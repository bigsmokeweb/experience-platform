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Verdana Bold" charset="1" panose="020B0804030504040204"/>
      <p:regular r:id="rId13"/>
    </p:embeddedFont>
    <p:embeddedFont>
      <p:font typeface="Arial Bold" charset="1" panose="020B0704020202020204"/>
      <p:regular r:id="rId14"/>
    </p:embeddedFont>
    <p:embeddedFont>
      <p:font typeface="Canva Sans" charset="1" panose="020B0503030501040103"/>
      <p:regular r:id="rId15"/>
    </p:embeddedFont>
    <p:embeddedFont>
      <p:font typeface="Tomorrow Bold" charset="1" panose="00000000000000000000"/>
      <p:regular r:id="rId16"/>
    </p:embeddedFont>
    <p:embeddedFont>
      <p:font typeface="Tomorrow" charset="1" panose="00000000000000000000"/>
      <p:regular r:id="rId17"/>
    </p:embeddedFont>
    <p:embeddedFont>
      <p:font typeface="The Seasons" charset="1" panose="00000000000000000000"/>
      <p:regular r:id="rId18"/>
    </p:embeddedFont>
    <p:embeddedFont>
      <p:font typeface="The Seasons Bold" charset="1" panose="00000000000000000000"/>
      <p:regular r:id="rId19"/>
    </p:embeddedFont>
    <p:embeddedFont>
      <p:font typeface="Poppins Bold" charset="1" panose="00000800000000000000"/>
      <p:regular r:id="rId20"/>
    </p:embeddedFont>
    <p:embeddedFont>
      <p:font typeface="Times New Roman Bold" charset="1" panose="02020803070505020304"/>
      <p:regular r:id="rId21"/>
    </p:embeddedFont>
    <p:embeddedFont>
      <p:font typeface="Tomorrow Italics" charset="1" panose="00000000000000000000"/>
      <p:regular r:id="rId22"/>
    </p:embeddedFont>
    <p:embeddedFont>
      <p:font typeface="Tahoma Bold" charset="1" panose="020B0804030504040204"/>
      <p:regular r:id="rId23"/>
    </p:embeddedFont>
    <p:embeddedFont>
      <p:font typeface="Courier New" charset="1" panose="020703090202050204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40.png" Type="http://schemas.openxmlformats.org/officeDocument/2006/relationships/image"/><Relationship Id="rId18" Target="../media/image41.svg" Type="http://schemas.openxmlformats.org/officeDocument/2006/relationships/image"/><Relationship Id="rId19" Target="../media/image42.png" Type="http://schemas.openxmlformats.org/officeDocument/2006/relationships/image"/><Relationship Id="rId2" Target="../media/image25.png" Type="http://schemas.openxmlformats.org/officeDocument/2006/relationships/image"/><Relationship Id="rId20" Target="../media/image43.svg" Type="http://schemas.openxmlformats.org/officeDocument/2006/relationships/image"/><Relationship Id="rId21" Target="../media/image44.png" Type="http://schemas.openxmlformats.org/officeDocument/2006/relationships/image"/><Relationship Id="rId22" Target="../media/image45.svg" Type="http://schemas.openxmlformats.org/officeDocument/2006/relationships/image"/><Relationship Id="rId23" Target="../media/image46.png" Type="http://schemas.openxmlformats.org/officeDocument/2006/relationships/image"/><Relationship Id="rId24" Target="../media/image47.svg" Type="http://schemas.openxmlformats.org/officeDocument/2006/relationships/image"/><Relationship Id="rId25" Target="../media/image48.png" Type="http://schemas.openxmlformats.org/officeDocument/2006/relationships/image"/><Relationship Id="rId26" Target="../media/image49.svg" Type="http://schemas.openxmlformats.org/officeDocument/2006/relationships/image"/><Relationship Id="rId27" Target="../media/image50.png" Type="http://schemas.openxmlformats.org/officeDocument/2006/relationships/image"/><Relationship Id="rId28" Target="../media/image51.svg" Type="http://schemas.openxmlformats.org/officeDocument/2006/relationships/image"/><Relationship Id="rId29" Target="../media/image52.png" Type="http://schemas.openxmlformats.org/officeDocument/2006/relationships/image"/><Relationship Id="rId3" Target="../media/image26.svg" Type="http://schemas.openxmlformats.org/officeDocument/2006/relationships/image"/><Relationship Id="rId30" Target="../media/image53.svg" Type="http://schemas.openxmlformats.org/officeDocument/2006/relationships/image"/><Relationship Id="rId31" Target="../media/image54.png" Type="http://schemas.openxmlformats.org/officeDocument/2006/relationships/image"/><Relationship Id="rId32" Target="../media/image55.svg" Type="http://schemas.openxmlformats.org/officeDocument/2006/relationships/image"/><Relationship Id="rId33" Target="../media/image56.png" Type="http://schemas.openxmlformats.org/officeDocument/2006/relationships/image"/><Relationship Id="rId34" Target="../media/image57.svg" Type="http://schemas.openxmlformats.org/officeDocument/2006/relationships/image"/><Relationship Id="rId35" Target="../media/image58.png" Type="http://schemas.openxmlformats.org/officeDocument/2006/relationships/image"/><Relationship Id="rId36" Target="../media/image59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BigSmokeweb/Experience-Platform" TargetMode="External" Type="http://schemas.openxmlformats.org/officeDocument/2006/relationships/hyperlink"/><Relationship Id="rId11" Target="https://experience-platform-sigma.vercel.app" TargetMode="External" Type="http://schemas.openxmlformats.org/officeDocument/2006/relationships/hyperlink"/><Relationship Id="rId12" Target="https://experience-platform-sigma.vercel.ap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https://github.com/BigSmok.../Experience-Platform.git" TargetMode="External" Type="http://schemas.openxmlformats.org/officeDocument/2006/relationships/hyperlink"/><Relationship Id="rId8" Target="../media/image63.png" Type="http://schemas.openxmlformats.org/officeDocument/2006/relationships/image"/><Relationship Id="rId9" Target="https://github.com/BigSmokeweb/Experience-Platfor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97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4EBF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435938" y="1683839"/>
            <a:ext cx="2225040" cy="805177"/>
          </a:xfrm>
          <a:custGeom>
            <a:avLst/>
            <a:gdLst/>
            <a:ahLst/>
            <a:cxnLst/>
            <a:rect r="r" b="b" t="t" l="l"/>
            <a:pathLst>
              <a:path h="805177" w="2225040">
                <a:moveTo>
                  <a:pt x="0" y="0"/>
                </a:moveTo>
                <a:lnTo>
                  <a:pt x="2225040" y="0"/>
                </a:lnTo>
                <a:lnTo>
                  <a:pt x="2225040" y="805177"/>
                </a:lnTo>
                <a:lnTo>
                  <a:pt x="0" y="80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664460" y="569585"/>
            <a:ext cx="1438799" cy="1200217"/>
            <a:chOff x="0" y="0"/>
            <a:chExt cx="1918398" cy="16002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8335" cy="1600327"/>
            </a:xfrm>
            <a:custGeom>
              <a:avLst/>
              <a:gdLst/>
              <a:ahLst/>
              <a:cxnLst/>
              <a:rect r="r" b="b" t="t" l="l"/>
              <a:pathLst>
                <a:path h="1600327" w="1918335">
                  <a:moveTo>
                    <a:pt x="0" y="0"/>
                  </a:moveTo>
                  <a:lnTo>
                    <a:pt x="1918335" y="0"/>
                  </a:lnTo>
                  <a:lnTo>
                    <a:pt x="1918335" y="1600327"/>
                  </a:lnTo>
                  <a:lnTo>
                    <a:pt x="0" y="1600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03400" y="534619"/>
            <a:ext cx="1438799" cy="1270197"/>
            <a:chOff x="0" y="0"/>
            <a:chExt cx="1918398" cy="16935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8335" cy="1693545"/>
            </a:xfrm>
            <a:custGeom>
              <a:avLst/>
              <a:gdLst/>
              <a:ahLst/>
              <a:cxnLst/>
              <a:rect r="r" b="b" t="t" l="l"/>
              <a:pathLst>
                <a:path h="1693545" w="1918335">
                  <a:moveTo>
                    <a:pt x="0" y="0"/>
                  </a:moveTo>
                  <a:lnTo>
                    <a:pt x="1918335" y="0"/>
                  </a:lnTo>
                  <a:lnTo>
                    <a:pt x="1918335" y="1693545"/>
                  </a:lnTo>
                  <a:lnTo>
                    <a:pt x="0" y="1693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5" t="0" r="-117" b="-2"/>
              </a:stretch>
            </a:blipFill>
          </p:spPr>
        </p:sp>
      </p:grpSp>
      <p:sp>
        <p:nvSpPr>
          <p:cNvPr name="TextBox 9" id="9" descr="$PPTXTitle"/>
          <p:cNvSpPr txBox="true"/>
          <p:nvPr/>
        </p:nvSpPr>
        <p:spPr>
          <a:xfrm rot="0">
            <a:off x="5529348" y="1778984"/>
            <a:ext cx="7232647" cy="10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b="true" sz="6399" spc="-339">
                <a:solidFill>
                  <a:srgbClr val="394876"/>
                </a:solidFill>
                <a:latin typeface="Verdana Bold"/>
                <a:ea typeface="Verdana Bold"/>
                <a:cs typeface="Verdana Bold"/>
                <a:sym typeface="Verdana Bold"/>
              </a:rPr>
              <a:t>HackCelestial 3.0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02103" y="517160"/>
            <a:ext cx="1294952" cy="1305096"/>
            <a:chOff x="0" y="0"/>
            <a:chExt cx="1726603" cy="17401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26565" cy="1740154"/>
            </a:xfrm>
            <a:custGeom>
              <a:avLst/>
              <a:gdLst/>
              <a:ahLst/>
              <a:cxnLst/>
              <a:rect r="r" b="b" t="t" l="l"/>
              <a:pathLst>
                <a:path h="1740154" w="1726565">
                  <a:moveTo>
                    <a:pt x="0" y="0"/>
                  </a:moveTo>
                  <a:lnTo>
                    <a:pt x="1726565" y="0"/>
                  </a:lnTo>
                  <a:lnTo>
                    <a:pt x="1726565" y="1740154"/>
                  </a:lnTo>
                  <a:lnTo>
                    <a:pt x="0" y="17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54" t="0" r="-1357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07696" y="569404"/>
            <a:ext cx="2627576" cy="1200598"/>
            <a:chOff x="0" y="0"/>
            <a:chExt cx="3503435" cy="1600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03422" cy="1600835"/>
            </a:xfrm>
            <a:custGeom>
              <a:avLst/>
              <a:gdLst/>
              <a:ahLst/>
              <a:cxnLst/>
              <a:rect r="r" b="b" t="t" l="l"/>
              <a:pathLst>
                <a:path h="1600835" w="3503422">
                  <a:moveTo>
                    <a:pt x="0" y="0"/>
                  </a:moveTo>
                  <a:lnTo>
                    <a:pt x="3503422" y="0"/>
                  </a:lnTo>
                  <a:lnTo>
                    <a:pt x="3503422" y="1600835"/>
                  </a:lnTo>
                  <a:lnTo>
                    <a:pt x="0" y="160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080294" y="534295"/>
            <a:ext cx="4123687" cy="880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Mahatma Education Society’s</a:t>
            </a:r>
          </a:p>
          <a:p>
            <a:pPr algn="ctr">
              <a:lnSpc>
                <a:spcPts val="4079"/>
              </a:lnSpc>
            </a:pPr>
            <a:r>
              <a:rPr lang="en-US" b="true" sz="3399" spc="-1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PILLAI UNIVERSITY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00" y="3429000"/>
            <a:ext cx="7811767" cy="2096767"/>
            <a:chOff x="0" y="0"/>
            <a:chExt cx="10415689" cy="27956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14381" cy="2794508"/>
            </a:xfrm>
            <a:custGeom>
              <a:avLst/>
              <a:gdLst/>
              <a:ahLst/>
              <a:cxnLst/>
              <a:rect r="r" b="b" t="t" l="l"/>
              <a:pathLst>
                <a:path h="2794508" w="10414381">
                  <a:moveTo>
                    <a:pt x="10007981" y="2794381"/>
                  </a:moveTo>
                  <a:lnTo>
                    <a:pt x="406400" y="2794381"/>
                  </a:lnTo>
                  <a:lnTo>
                    <a:pt x="278003" y="2773680"/>
                  </a:lnTo>
                  <a:lnTo>
                    <a:pt x="166370" y="2716022"/>
                  </a:lnTo>
                  <a:lnTo>
                    <a:pt x="78359" y="2628011"/>
                  </a:lnTo>
                  <a:lnTo>
                    <a:pt x="20701" y="2516378"/>
                  </a:lnTo>
                  <a:lnTo>
                    <a:pt x="0" y="2387981"/>
                  </a:lnTo>
                  <a:lnTo>
                    <a:pt x="0" y="406400"/>
                  </a:lnTo>
                  <a:lnTo>
                    <a:pt x="20701" y="278003"/>
                  </a:lnTo>
                  <a:lnTo>
                    <a:pt x="78359" y="166370"/>
                  </a:lnTo>
                  <a:lnTo>
                    <a:pt x="166370" y="78359"/>
                  </a:lnTo>
                  <a:lnTo>
                    <a:pt x="278003" y="20701"/>
                  </a:lnTo>
                  <a:lnTo>
                    <a:pt x="406400" y="0"/>
                  </a:lnTo>
                  <a:lnTo>
                    <a:pt x="10007981" y="0"/>
                  </a:lnTo>
                  <a:lnTo>
                    <a:pt x="10163556" y="30988"/>
                  </a:lnTo>
                  <a:lnTo>
                    <a:pt x="10295382" y="119126"/>
                  </a:lnTo>
                  <a:lnTo>
                    <a:pt x="10383520" y="250952"/>
                  </a:lnTo>
                  <a:lnTo>
                    <a:pt x="10414381" y="406400"/>
                  </a:lnTo>
                  <a:lnTo>
                    <a:pt x="10414381" y="2387981"/>
                  </a:lnTo>
                  <a:lnTo>
                    <a:pt x="10393680" y="2516505"/>
                  </a:lnTo>
                  <a:lnTo>
                    <a:pt x="10336023" y="2628138"/>
                  </a:lnTo>
                  <a:lnTo>
                    <a:pt x="10248012" y="2716149"/>
                  </a:lnTo>
                  <a:lnTo>
                    <a:pt x="10136378" y="2773807"/>
                  </a:lnTo>
                  <a:lnTo>
                    <a:pt x="10007854" y="27945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52525" y="5905500"/>
            <a:ext cx="7811767" cy="3619500"/>
            <a:chOff x="0" y="0"/>
            <a:chExt cx="10415689" cy="482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381" cy="4825619"/>
            </a:xfrm>
            <a:custGeom>
              <a:avLst/>
              <a:gdLst/>
              <a:ahLst/>
              <a:cxnLst/>
              <a:rect r="r" b="b" t="t" l="l"/>
              <a:pathLst>
                <a:path h="4825619" w="10414381">
                  <a:moveTo>
                    <a:pt x="10007981" y="4825619"/>
                  </a:moveTo>
                  <a:lnTo>
                    <a:pt x="406400" y="4825619"/>
                  </a:lnTo>
                  <a:lnTo>
                    <a:pt x="278003" y="4804918"/>
                  </a:lnTo>
                  <a:lnTo>
                    <a:pt x="166497" y="4747260"/>
                  </a:lnTo>
                  <a:lnTo>
                    <a:pt x="78486" y="4659249"/>
                  </a:lnTo>
                  <a:lnTo>
                    <a:pt x="20828" y="4547743"/>
                  </a:lnTo>
                  <a:lnTo>
                    <a:pt x="0" y="4419219"/>
                  </a:lnTo>
                  <a:lnTo>
                    <a:pt x="0" y="406400"/>
                  </a:lnTo>
                  <a:lnTo>
                    <a:pt x="20701" y="277876"/>
                  </a:lnTo>
                  <a:lnTo>
                    <a:pt x="78359" y="166370"/>
                  </a:lnTo>
                  <a:lnTo>
                    <a:pt x="166370" y="78359"/>
                  </a:lnTo>
                  <a:lnTo>
                    <a:pt x="277876" y="20701"/>
                  </a:lnTo>
                  <a:lnTo>
                    <a:pt x="406400" y="0"/>
                  </a:lnTo>
                  <a:lnTo>
                    <a:pt x="10007981" y="0"/>
                  </a:lnTo>
                  <a:lnTo>
                    <a:pt x="10163429" y="30988"/>
                  </a:lnTo>
                  <a:lnTo>
                    <a:pt x="10295255" y="119126"/>
                  </a:lnTo>
                  <a:lnTo>
                    <a:pt x="10383393" y="250952"/>
                  </a:lnTo>
                  <a:lnTo>
                    <a:pt x="10414381" y="406400"/>
                  </a:lnTo>
                  <a:lnTo>
                    <a:pt x="10414381" y="4419219"/>
                  </a:lnTo>
                  <a:lnTo>
                    <a:pt x="10393680" y="4547616"/>
                  </a:lnTo>
                  <a:lnTo>
                    <a:pt x="10336023" y="4659122"/>
                  </a:lnTo>
                  <a:lnTo>
                    <a:pt x="10248012" y="4747133"/>
                  </a:lnTo>
                  <a:lnTo>
                    <a:pt x="10136505" y="4804791"/>
                  </a:lnTo>
                  <a:lnTo>
                    <a:pt x="10008108" y="48254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34500" y="3429000"/>
            <a:ext cx="7811767" cy="6096000"/>
            <a:chOff x="0" y="0"/>
            <a:chExt cx="10415689" cy="812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381" cy="8128000"/>
            </a:xfrm>
            <a:custGeom>
              <a:avLst/>
              <a:gdLst/>
              <a:ahLst/>
              <a:cxnLst/>
              <a:rect r="r" b="b" t="t" l="l"/>
              <a:pathLst>
                <a:path h="8128000" w="10414381">
                  <a:moveTo>
                    <a:pt x="10007981" y="8128000"/>
                  </a:moveTo>
                  <a:lnTo>
                    <a:pt x="406400" y="8128000"/>
                  </a:lnTo>
                  <a:lnTo>
                    <a:pt x="278003" y="8107299"/>
                  </a:lnTo>
                  <a:lnTo>
                    <a:pt x="166497" y="8049641"/>
                  </a:lnTo>
                  <a:lnTo>
                    <a:pt x="78486" y="7961630"/>
                  </a:lnTo>
                  <a:lnTo>
                    <a:pt x="20828" y="7850124"/>
                  </a:lnTo>
                  <a:lnTo>
                    <a:pt x="0" y="7721600"/>
                  </a:lnTo>
                  <a:lnTo>
                    <a:pt x="0" y="406400"/>
                  </a:lnTo>
                  <a:lnTo>
                    <a:pt x="20701" y="278003"/>
                  </a:lnTo>
                  <a:lnTo>
                    <a:pt x="78359" y="166370"/>
                  </a:lnTo>
                  <a:lnTo>
                    <a:pt x="166370" y="78359"/>
                  </a:lnTo>
                  <a:lnTo>
                    <a:pt x="277876" y="20701"/>
                  </a:lnTo>
                  <a:lnTo>
                    <a:pt x="406400" y="0"/>
                  </a:lnTo>
                  <a:lnTo>
                    <a:pt x="10007981" y="0"/>
                  </a:lnTo>
                  <a:lnTo>
                    <a:pt x="10163556" y="30988"/>
                  </a:lnTo>
                  <a:lnTo>
                    <a:pt x="10295382" y="119126"/>
                  </a:lnTo>
                  <a:lnTo>
                    <a:pt x="10383520" y="250952"/>
                  </a:lnTo>
                  <a:lnTo>
                    <a:pt x="10414381" y="406400"/>
                  </a:lnTo>
                  <a:lnTo>
                    <a:pt x="10414381" y="7721600"/>
                  </a:lnTo>
                  <a:lnTo>
                    <a:pt x="10393680" y="7849997"/>
                  </a:lnTo>
                  <a:lnTo>
                    <a:pt x="10336023" y="7961503"/>
                  </a:lnTo>
                  <a:lnTo>
                    <a:pt x="10248012" y="8049514"/>
                  </a:lnTo>
                  <a:lnTo>
                    <a:pt x="10136505" y="8107172"/>
                  </a:lnTo>
                  <a:lnTo>
                    <a:pt x="10007981" y="812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98597" y="3656333"/>
            <a:ext cx="221197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20">
                <a:solidFill>
                  <a:srgbClr val="7A8AB8"/>
                </a:solidFill>
                <a:latin typeface="Arial Bold"/>
                <a:ea typeface="Arial Bold"/>
                <a:cs typeface="Arial Bold"/>
                <a:sym typeface="Arial Bold"/>
              </a:rPr>
              <a:t>01. Identification</a:t>
            </a:r>
          </a:p>
          <a:p>
            <a:pPr algn="l">
              <a:lnSpc>
                <a:spcPts val="4799"/>
              </a:lnSpc>
            </a:pPr>
            <a:r>
              <a:rPr lang="en-US" b="true" sz="3999" spc="-19">
                <a:solidFill>
                  <a:srgbClr val="394876"/>
                </a:solidFill>
                <a:latin typeface="Arial Bold"/>
                <a:ea typeface="Arial Bold"/>
                <a:cs typeface="Arial Bold"/>
                <a:sym typeface="Arial Bold"/>
              </a:rPr>
              <a:t>Team Name: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8597" y="6132833"/>
            <a:ext cx="625983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20">
                <a:solidFill>
                  <a:srgbClr val="7A8AB8"/>
                </a:solidFill>
                <a:latin typeface="Arial Bold"/>
                <a:ea typeface="Arial Bold"/>
                <a:cs typeface="Arial Bold"/>
                <a:sym typeface="Arial Bold"/>
              </a:rPr>
              <a:t>02. Focus Area</a:t>
            </a:r>
          </a:p>
          <a:p>
            <a:pPr algn="l">
              <a:lnSpc>
                <a:spcPts val="4799"/>
              </a:lnSpc>
            </a:pPr>
            <a:r>
              <a:rPr lang="en-US" b="true" sz="3999" spc="159">
                <a:solidFill>
                  <a:srgbClr val="394876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90097" y="3656333"/>
            <a:ext cx="313436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-20">
                <a:solidFill>
                  <a:srgbClr val="7A8AB8"/>
                </a:solidFill>
                <a:latin typeface="Arial Bold"/>
                <a:ea typeface="Arial Bold"/>
                <a:cs typeface="Arial Bold"/>
                <a:sym typeface="Arial Bold"/>
              </a:rPr>
              <a:t>03. Pitch Summary</a:t>
            </a:r>
          </a:p>
          <a:p>
            <a:pPr algn="l">
              <a:lnSpc>
                <a:spcPts val="4799"/>
              </a:lnSpc>
            </a:pPr>
            <a:r>
              <a:rPr lang="en-US" b="true" sz="3999" spc="-19">
                <a:solidFill>
                  <a:srgbClr val="394876"/>
                </a:solidFill>
                <a:latin typeface="Arial Bold"/>
                <a:ea typeface="Arial Bold"/>
                <a:cs typeface="Arial Bold"/>
                <a:sym typeface="Arial Bold"/>
              </a:rPr>
              <a:t>Abstract: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28034" y="4151633"/>
            <a:ext cx="344170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1"/>
              </a:lnSpc>
            </a:pPr>
            <a:r>
              <a:rPr lang="en-US" b="true" sz="5126" spc="-25">
                <a:solidFill>
                  <a:srgbClr val="1E293B"/>
                </a:solidFill>
                <a:latin typeface="Tomorrow Bold"/>
                <a:ea typeface="Tomorrow Bold"/>
                <a:cs typeface="Tomorrow Bold"/>
                <a:sym typeface="Tomorrow Bold"/>
              </a:rPr>
              <a:t>WIN</a:t>
            </a:r>
            <a:r>
              <a:rPr lang="en-US" b="true" sz="5126" spc="-25">
                <a:solidFill>
                  <a:srgbClr val="1E293B"/>
                </a:solidFill>
                <a:latin typeface="Tomorrow Bold"/>
                <a:ea typeface="Tomorrow Bold"/>
                <a:cs typeface="Tomorrow Bold"/>
                <a:sym typeface="Tomorrow Bold"/>
              </a:rPr>
              <a:t>NERS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8597" y="7637783"/>
            <a:ext cx="7290641" cy="87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  <a:spcBef>
                <a:spcPct val="0"/>
              </a:spcBef>
            </a:pPr>
            <a:r>
              <a:rPr lang="en-US" b="true" sz="2839" spc="-23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Local &amp; Experiences — Intelligent Local Discovery &amp; Experience Platform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0097" y="4663186"/>
            <a:ext cx="7241067" cy="418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1"/>
              </a:lnSpc>
              <a:spcBef>
                <a:spcPct val="0"/>
              </a:spcBef>
            </a:pP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Journi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is a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deterministic spatial itinerary engine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         engineered to eliminate fragmented planning,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transit zig-zags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, and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LLM hallucinations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. Built for complex urban transit ecosystems, Journi integrates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PostGIS spatial pruning, 10-factor mathematical ranking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, and a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multimodal suburban rail graph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to deliver optimized single-day journeys in under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50ms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. By applying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continuous vector geometry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, it mathematically eliminates back-tracking while enforcing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DPDP Act 2023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compliance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via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500m spatial cloaking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. Crucially, Journi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decouples routing logic from language generation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—using Gemini strictly for explainability—delivering a </a:t>
            </a:r>
            <a:r>
              <a:rPr lang="en-US" b="true" sz="1975" spc="-16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privacy-first, zero-hallucination platform </a:t>
            </a:r>
            <a:r>
              <a:rPr lang="en-US" sz="1975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that unifies local discovery with sustainable transit.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4EBF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19690" y="528351"/>
            <a:ext cx="15408907" cy="1598933"/>
          </a:xfrm>
          <a:custGeom>
            <a:avLst/>
            <a:gdLst/>
            <a:ahLst/>
            <a:cxnLst/>
            <a:rect r="r" b="b" t="t" l="l"/>
            <a:pathLst>
              <a:path h="1598933" w="15408907">
                <a:moveTo>
                  <a:pt x="0" y="0"/>
                </a:moveTo>
                <a:lnTo>
                  <a:pt x="15408907" y="0"/>
                </a:lnTo>
                <a:lnTo>
                  <a:pt x="15408907" y="1598934"/>
                </a:lnTo>
                <a:lnTo>
                  <a:pt x="0" y="159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892676" y="-384584"/>
            <a:ext cx="9629557" cy="6197877"/>
            <a:chOff x="0" y="0"/>
            <a:chExt cx="5513070" cy="3548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297" y="429"/>
              <a:ext cx="5514367" cy="3547951"/>
            </a:xfrm>
            <a:custGeom>
              <a:avLst/>
              <a:gdLst/>
              <a:ahLst/>
              <a:cxnLst/>
              <a:rect r="r" b="b" t="t" l="l"/>
              <a:pathLst>
                <a:path h="3547951" w="5514367">
                  <a:moveTo>
                    <a:pt x="4989857" y="1543891"/>
                  </a:moveTo>
                  <a:cubicBezTo>
                    <a:pt x="5047007" y="1522301"/>
                    <a:pt x="5123207" y="1532461"/>
                    <a:pt x="5187977" y="1510871"/>
                  </a:cubicBezTo>
                  <a:cubicBezTo>
                    <a:pt x="5325137" y="1463881"/>
                    <a:pt x="5434357" y="1388951"/>
                    <a:pt x="5514367" y="1303861"/>
                  </a:cubicBezTo>
                  <a:cubicBezTo>
                    <a:pt x="5497857" y="1216231"/>
                    <a:pt x="5492777" y="1167971"/>
                    <a:pt x="5504207" y="1094311"/>
                  </a:cubicBezTo>
                  <a:cubicBezTo>
                    <a:pt x="5494047" y="1089231"/>
                    <a:pt x="5472457" y="1103201"/>
                    <a:pt x="5471187" y="1082881"/>
                  </a:cubicBezTo>
                  <a:cubicBezTo>
                    <a:pt x="5468647" y="1024461"/>
                    <a:pt x="5440707" y="1002871"/>
                    <a:pt x="5414037" y="953341"/>
                  </a:cubicBezTo>
                  <a:cubicBezTo>
                    <a:pt x="5209567" y="982551"/>
                    <a:pt x="4837457" y="1142571"/>
                    <a:pt x="4616477" y="1128601"/>
                  </a:cubicBezTo>
                  <a:cubicBezTo>
                    <a:pt x="4752367" y="1032081"/>
                    <a:pt x="4850157" y="924131"/>
                    <a:pt x="4852697" y="781891"/>
                  </a:cubicBezTo>
                  <a:cubicBezTo>
                    <a:pt x="4841267" y="770461"/>
                    <a:pt x="4776497" y="762841"/>
                    <a:pt x="4761257" y="767921"/>
                  </a:cubicBezTo>
                  <a:cubicBezTo>
                    <a:pt x="4709187" y="757761"/>
                    <a:pt x="4655847" y="710771"/>
                    <a:pt x="4632987" y="681561"/>
                  </a:cubicBezTo>
                  <a:cubicBezTo>
                    <a:pt x="4611397" y="695531"/>
                    <a:pt x="4607587" y="680291"/>
                    <a:pt x="4588537" y="690451"/>
                  </a:cubicBezTo>
                  <a:cubicBezTo>
                    <a:pt x="4507257" y="628221"/>
                    <a:pt x="4335807" y="722201"/>
                    <a:pt x="4253257" y="663781"/>
                  </a:cubicBezTo>
                  <a:cubicBezTo>
                    <a:pt x="4291357" y="563451"/>
                    <a:pt x="4213887" y="540591"/>
                    <a:pt x="4161817" y="492331"/>
                  </a:cubicBezTo>
                  <a:cubicBezTo>
                    <a:pt x="4180867" y="413591"/>
                    <a:pt x="4133877" y="371681"/>
                    <a:pt x="4090697" y="298021"/>
                  </a:cubicBezTo>
                  <a:cubicBezTo>
                    <a:pt x="4037357" y="323421"/>
                    <a:pt x="4041167" y="284051"/>
                    <a:pt x="4047517" y="258651"/>
                  </a:cubicBezTo>
                  <a:cubicBezTo>
                    <a:pt x="4008147" y="270081"/>
                    <a:pt x="3984017" y="254841"/>
                    <a:pt x="3962427" y="234521"/>
                  </a:cubicBezTo>
                  <a:cubicBezTo>
                    <a:pt x="3886227" y="263731"/>
                    <a:pt x="3816377" y="265001"/>
                    <a:pt x="3755417" y="271351"/>
                  </a:cubicBezTo>
                  <a:cubicBezTo>
                    <a:pt x="3444267" y="304371"/>
                    <a:pt x="3058187" y="388191"/>
                    <a:pt x="2778787" y="402161"/>
                  </a:cubicBezTo>
                  <a:cubicBezTo>
                    <a:pt x="3035327" y="292941"/>
                    <a:pt x="3332507" y="223091"/>
                    <a:pt x="3521737" y="129111"/>
                  </a:cubicBezTo>
                  <a:cubicBezTo>
                    <a:pt x="3528087" y="75771"/>
                    <a:pt x="3526817" y="51641"/>
                    <a:pt x="3523007" y="2111"/>
                  </a:cubicBezTo>
                  <a:cubicBezTo>
                    <a:pt x="3318537" y="-15669"/>
                    <a:pt x="3004847" y="82121"/>
                    <a:pt x="2714017" y="173561"/>
                  </a:cubicBezTo>
                  <a:cubicBezTo>
                    <a:pt x="2039647" y="385651"/>
                    <a:pt x="1226847" y="626951"/>
                    <a:pt x="844577" y="1002871"/>
                  </a:cubicBezTo>
                  <a:cubicBezTo>
                    <a:pt x="854737" y="1058751"/>
                    <a:pt x="838227" y="1131141"/>
                    <a:pt x="880137" y="1179401"/>
                  </a:cubicBezTo>
                  <a:cubicBezTo>
                    <a:pt x="740437" y="1255601"/>
                    <a:pt x="580417" y="1324181"/>
                    <a:pt x="444527" y="1402921"/>
                  </a:cubicBezTo>
                  <a:cubicBezTo>
                    <a:pt x="449607" y="1468961"/>
                    <a:pt x="483897" y="1537541"/>
                    <a:pt x="497867" y="1548971"/>
                  </a:cubicBezTo>
                  <a:cubicBezTo>
                    <a:pt x="453417" y="1573101"/>
                    <a:pt x="521997" y="1555321"/>
                    <a:pt x="519457" y="1580721"/>
                  </a:cubicBezTo>
                  <a:cubicBezTo>
                    <a:pt x="500407" y="1589611"/>
                    <a:pt x="513107" y="1611201"/>
                    <a:pt x="485167" y="1617551"/>
                  </a:cubicBezTo>
                  <a:cubicBezTo>
                    <a:pt x="382297" y="1601041"/>
                    <a:pt x="267997" y="1681051"/>
                    <a:pt x="162587" y="1705181"/>
                  </a:cubicBezTo>
                  <a:cubicBezTo>
                    <a:pt x="158777" y="1721691"/>
                    <a:pt x="196877" y="1719151"/>
                    <a:pt x="172747" y="1733121"/>
                  </a:cubicBezTo>
                  <a:cubicBezTo>
                    <a:pt x="102897" y="1749631"/>
                    <a:pt x="95277" y="1786461"/>
                    <a:pt x="25427" y="1802971"/>
                  </a:cubicBezTo>
                  <a:cubicBezTo>
                    <a:pt x="22887" y="1818211"/>
                    <a:pt x="20347" y="1833451"/>
                    <a:pt x="24157" y="1851231"/>
                  </a:cubicBezTo>
                  <a:cubicBezTo>
                    <a:pt x="34317" y="1863931"/>
                    <a:pt x="95277" y="1848691"/>
                    <a:pt x="78767" y="1870281"/>
                  </a:cubicBezTo>
                  <a:cubicBezTo>
                    <a:pt x="41937" y="1882981"/>
                    <a:pt x="-1243" y="1879171"/>
                    <a:pt x="27" y="1914731"/>
                  </a:cubicBezTo>
                  <a:cubicBezTo>
                    <a:pt x="20347" y="1937591"/>
                    <a:pt x="62257" y="1922351"/>
                    <a:pt x="73687" y="1959181"/>
                  </a:cubicBezTo>
                  <a:cubicBezTo>
                    <a:pt x="64797" y="1976961"/>
                    <a:pt x="36857" y="1987121"/>
                    <a:pt x="44477" y="2009981"/>
                  </a:cubicBezTo>
                  <a:cubicBezTo>
                    <a:pt x="104167" y="2008711"/>
                    <a:pt x="157507" y="2020141"/>
                    <a:pt x="219737" y="2016331"/>
                  </a:cubicBezTo>
                  <a:cubicBezTo>
                    <a:pt x="200687" y="2026491"/>
                    <a:pt x="234977" y="2049351"/>
                    <a:pt x="285777" y="2039191"/>
                  </a:cubicBezTo>
                  <a:cubicBezTo>
                    <a:pt x="283237" y="2056971"/>
                    <a:pt x="238787" y="2059511"/>
                    <a:pt x="242597" y="2078561"/>
                  </a:cubicBezTo>
                  <a:cubicBezTo>
                    <a:pt x="316257" y="2064591"/>
                    <a:pt x="336577" y="2036651"/>
                    <a:pt x="405157" y="2026491"/>
                  </a:cubicBezTo>
                  <a:cubicBezTo>
                    <a:pt x="359437" y="2063321"/>
                    <a:pt x="301017" y="2120471"/>
                    <a:pt x="243867" y="2133171"/>
                  </a:cubicBezTo>
                  <a:cubicBezTo>
                    <a:pt x="227357" y="2156031"/>
                    <a:pt x="233707" y="2186511"/>
                    <a:pt x="224817" y="2210641"/>
                  </a:cubicBezTo>
                  <a:cubicBezTo>
                    <a:pt x="209577" y="2205561"/>
                    <a:pt x="210847" y="2285571"/>
                    <a:pt x="250217" y="2304621"/>
                  </a:cubicBezTo>
                  <a:cubicBezTo>
                    <a:pt x="299747" y="2291921"/>
                    <a:pt x="411507" y="2298271"/>
                    <a:pt x="483897" y="2313511"/>
                  </a:cubicBezTo>
                  <a:cubicBezTo>
                    <a:pt x="478817" y="2327481"/>
                    <a:pt x="462307" y="2337641"/>
                    <a:pt x="471197" y="2357961"/>
                  </a:cubicBezTo>
                  <a:cubicBezTo>
                    <a:pt x="495327" y="2366851"/>
                    <a:pt x="553747" y="2316051"/>
                    <a:pt x="577877" y="2335101"/>
                  </a:cubicBezTo>
                  <a:cubicBezTo>
                    <a:pt x="613437" y="2347801"/>
                    <a:pt x="549937" y="2360501"/>
                    <a:pt x="567717" y="2385901"/>
                  </a:cubicBezTo>
                  <a:cubicBezTo>
                    <a:pt x="803937" y="2267791"/>
                    <a:pt x="993167" y="2246201"/>
                    <a:pt x="1233197" y="2189051"/>
                  </a:cubicBezTo>
                  <a:cubicBezTo>
                    <a:pt x="965227" y="2305891"/>
                    <a:pt x="603277" y="2620851"/>
                    <a:pt x="596927" y="2723721"/>
                  </a:cubicBezTo>
                  <a:cubicBezTo>
                    <a:pt x="629947" y="2723721"/>
                    <a:pt x="657887" y="2731341"/>
                    <a:pt x="688367" y="2737691"/>
                  </a:cubicBezTo>
                  <a:cubicBezTo>
                    <a:pt x="678207" y="2764361"/>
                    <a:pt x="662967" y="2789761"/>
                    <a:pt x="660427" y="2818971"/>
                  </a:cubicBezTo>
                  <a:cubicBezTo>
                    <a:pt x="676937" y="2789761"/>
                    <a:pt x="735357" y="2775791"/>
                    <a:pt x="740437" y="2829131"/>
                  </a:cubicBezTo>
                  <a:cubicBezTo>
                    <a:pt x="699797" y="2832941"/>
                    <a:pt x="699797" y="2845641"/>
                    <a:pt x="699797" y="2876121"/>
                  </a:cubicBezTo>
                  <a:cubicBezTo>
                    <a:pt x="741707" y="2881201"/>
                    <a:pt x="806477" y="2844371"/>
                    <a:pt x="826797" y="2883741"/>
                  </a:cubicBezTo>
                  <a:cubicBezTo>
                    <a:pt x="800127" y="2900251"/>
                    <a:pt x="789967" y="2885011"/>
                    <a:pt x="764567" y="2898981"/>
                  </a:cubicBezTo>
                  <a:cubicBezTo>
                    <a:pt x="765837" y="2924381"/>
                    <a:pt x="791237" y="2905331"/>
                    <a:pt x="800127" y="2918031"/>
                  </a:cubicBezTo>
                  <a:cubicBezTo>
                    <a:pt x="726467" y="2948511"/>
                    <a:pt x="730277" y="2959941"/>
                    <a:pt x="706147" y="3000581"/>
                  </a:cubicBezTo>
                  <a:cubicBezTo>
                    <a:pt x="685827" y="2967561"/>
                    <a:pt x="632487" y="3179651"/>
                    <a:pt x="675667" y="3177111"/>
                  </a:cubicBezTo>
                  <a:cubicBezTo>
                    <a:pt x="640107" y="3213941"/>
                    <a:pt x="708687" y="3192351"/>
                    <a:pt x="725197" y="3206321"/>
                  </a:cubicBezTo>
                  <a:cubicBezTo>
                    <a:pt x="709957" y="3232991"/>
                    <a:pt x="744247" y="3240611"/>
                    <a:pt x="748057" y="3268551"/>
                  </a:cubicBezTo>
                  <a:cubicBezTo>
                    <a:pt x="767107" y="3273631"/>
                    <a:pt x="803937" y="3246961"/>
                    <a:pt x="802667" y="3287601"/>
                  </a:cubicBezTo>
                  <a:cubicBezTo>
                    <a:pt x="765837" y="3291411"/>
                    <a:pt x="777267" y="3281251"/>
                    <a:pt x="751867" y="3306651"/>
                  </a:cubicBezTo>
                  <a:cubicBezTo>
                    <a:pt x="742977" y="3297761"/>
                    <a:pt x="723927" y="3288871"/>
                    <a:pt x="704877" y="3307921"/>
                  </a:cubicBezTo>
                  <a:cubicBezTo>
                    <a:pt x="718847" y="3334591"/>
                    <a:pt x="713767" y="3354911"/>
                    <a:pt x="711227" y="3376501"/>
                  </a:cubicBezTo>
                  <a:cubicBezTo>
                    <a:pt x="778537" y="3365071"/>
                    <a:pt x="731547" y="3387931"/>
                    <a:pt x="793777" y="3393011"/>
                  </a:cubicBezTo>
                  <a:cubicBezTo>
                    <a:pt x="812827" y="3415871"/>
                    <a:pt x="784887" y="3422221"/>
                    <a:pt x="781077" y="3437461"/>
                  </a:cubicBezTo>
                  <a:cubicBezTo>
                    <a:pt x="902997" y="3441271"/>
                    <a:pt x="966497" y="3492071"/>
                    <a:pt x="1070637" y="3516201"/>
                  </a:cubicBezTo>
                  <a:cubicBezTo>
                    <a:pt x="1070637" y="3539061"/>
                    <a:pt x="1089687" y="3530171"/>
                    <a:pt x="1092227" y="3547951"/>
                  </a:cubicBezTo>
                  <a:cubicBezTo>
                    <a:pt x="1290347" y="3525091"/>
                    <a:pt x="1421157" y="3546681"/>
                    <a:pt x="1649757" y="3476831"/>
                  </a:cubicBezTo>
                  <a:cubicBezTo>
                    <a:pt x="1621817" y="3451431"/>
                    <a:pt x="1543077" y="3471751"/>
                    <a:pt x="1527837" y="3459051"/>
                  </a:cubicBezTo>
                  <a:cubicBezTo>
                    <a:pt x="1682777" y="3394281"/>
                    <a:pt x="1872007" y="3371421"/>
                    <a:pt x="2057427" y="3334591"/>
                  </a:cubicBezTo>
                  <a:cubicBezTo>
                    <a:pt x="2235227" y="3300301"/>
                    <a:pt x="2410487" y="3311731"/>
                    <a:pt x="2585747" y="3234261"/>
                  </a:cubicBezTo>
                  <a:cubicBezTo>
                    <a:pt x="2627657" y="3250771"/>
                    <a:pt x="2660677" y="3219021"/>
                    <a:pt x="2700047" y="3207591"/>
                  </a:cubicBezTo>
                  <a:cubicBezTo>
                    <a:pt x="2905787" y="3145361"/>
                    <a:pt x="3167407" y="3095831"/>
                    <a:pt x="3370607" y="3079321"/>
                  </a:cubicBezTo>
                  <a:cubicBezTo>
                    <a:pt x="3406167" y="3076781"/>
                    <a:pt x="3446807" y="3056461"/>
                    <a:pt x="3463317" y="3045031"/>
                  </a:cubicBezTo>
                  <a:cubicBezTo>
                    <a:pt x="3529357" y="3055191"/>
                    <a:pt x="3643657" y="3012011"/>
                    <a:pt x="3703347" y="2995501"/>
                  </a:cubicBezTo>
                  <a:cubicBezTo>
                    <a:pt x="3700807" y="2984071"/>
                    <a:pt x="3690647" y="2971371"/>
                    <a:pt x="3702077" y="2965021"/>
                  </a:cubicBezTo>
                  <a:cubicBezTo>
                    <a:pt x="3784627" y="2945971"/>
                    <a:pt x="3901467" y="2925651"/>
                    <a:pt x="3977667" y="2879931"/>
                  </a:cubicBezTo>
                  <a:cubicBezTo>
                    <a:pt x="3967507" y="2874851"/>
                    <a:pt x="3945917" y="2888821"/>
                    <a:pt x="3944647" y="2868501"/>
                  </a:cubicBezTo>
                  <a:cubicBezTo>
                    <a:pt x="4017037" y="2850721"/>
                    <a:pt x="4105937" y="2843101"/>
                    <a:pt x="4174517" y="2815161"/>
                  </a:cubicBezTo>
                  <a:cubicBezTo>
                    <a:pt x="4160547" y="2812621"/>
                    <a:pt x="4145307" y="2812621"/>
                    <a:pt x="4132607" y="2806271"/>
                  </a:cubicBezTo>
                  <a:cubicBezTo>
                    <a:pt x="4217697" y="2741501"/>
                    <a:pt x="4253257" y="2709751"/>
                    <a:pt x="4370097" y="2695781"/>
                  </a:cubicBezTo>
                  <a:cubicBezTo>
                    <a:pt x="4361207" y="2657681"/>
                    <a:pt x="4387877" y="2633551"/>
                    <a:pt x="4447567" y="2619581"/>
                  </a:cubicBezTo>
                  <a:cubicBezTo>
                    <a:pt x="4464077" y="2596721"/>
                    <a:pt x="4413277" y="2605611"/>
                    <a:pt x="4432327" y="2577671"/>
                  </a:cubicBezTo>
                  <a:cubicBezTo>
                    <a:pt x="4644417" y="2549731"/>
                    <a:pt x="4702837" y="2359231"/>
                    <a:pt x="4800627" y="2252551"/>
                  </a:cubicBezTo>
                  <a:cubicBezTo>
                    <a:pt x="4804437" y="2248741"/>
                    <a:pt x="4820947" y="2238581"/>
                    <a:pt x="4823487" y="2236041"/>
                  </a:cubicBezTo>
                  <a:cubicBezTo>
                    <a:pt x="4958107" y="2154761"/>
                    <a:pt x="5124477" y="2143331"/>
                    <a:pt x="5227347" y="2031571"/>
                  </a:cubicBezTo>
                  <a:cubicBezTo>
                    <a:pt x="5266717" y="1946481"/>
                    <a:pt x="5370857" y="1838531"/>
                    <a:pt x="5255287" y="1768681"/>
                  </a:cubicBezTo>
                  <a:cubicBezTo>
                    <a:pt x="5267987" y="1750901"/>
                    <a:pt x="5261637" y="1726771"/>
                    <a:pt x="5248937" y="1700101"/>
                  </a:cubicBezTo>
                  <a:cubicBezTo>
                    <a:pt x="5196867" y="1714071"/>
                    <a:pt x="4956837" y="1667081"/>
                    <a:pt x="4903497" y="1645491"/>
                  </a:cubicBezTo>
                  <a:cubicBezTo>
                    <a:pt x="4914927" y="1618821"/>
                    <a:pt x="4890797" y="1592151"/>
                    <a:pt x="4897147" y="1576911"/>
                  </a:cubicBezTo>
                  <a:cubicBezTo>
                    <a:pt x="4946677" y="1574371"/>
                    <a:pt x="4960647" y="1555321"/>
                    <a:pt x="4989857" y="1543891"/>
                  </a:cubicBezTo>
                  <a:close/>
                </a:path>
              </a:pathLst>
            </a:custGeom>
            <a:blipFill>
              <a:blip r:embed="rId4"/>
              <a:stretch>
                <a:fillRect l="0" t="-66531" r="0" b="-6653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261841" y="2128869"/>
            <a:ext cx="1842182" cy="3556840"/>
            <a:chOff x="0" y="0"/>
            <a:chExt cx="15227300" cy="29400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36982" y="214630"/>
              <a:ext cx="14479651" cy="28808935"/>
            </a:xfrm>
            <a:custGeom>
              <a:avLst/>
              <a:gdLst/>
              <a:ahLst/>
              <a:cxnLst/>
              <a:rect r="r" b="b" t="t" l="l"/>
              <a:pathLst>
                <a:path h="28808935" w="14479651">
                  <a:moveTo>
                    <a:pt x="3980307" y="365760"/>
                  </a:moveTo>
                  <a:lnTo>
                    <a:pt x="12285091" y="0"/>
                  </a:lnTo>
                  <a:lnTo>
                    <a:pt x="13576046" y="279781"/>
                  </a:lnTo>
                  <a:lnTo>
                    <a:pt x="14221460" y="1011301"/>
                  </a:lnTo>
                  <a:lnTo>
                    <a:pt x="14479651" y="2883027"/>
                  </a:lnTo>
                  <a:lnTo>
                    <a:pt x="13468478" y="15361920"/>
                  </a:lnTo>
                  <a:lnTo>
                    <a:pt x="12392787" y="27302841"/>
                  </a:lnTo>
                  <a:lnTo>
                    <a:pt x="11725783" y="28421712"/>
                  </a:lnTo>
                  <a:lnTo>
                    <a:pt x="10969117" y="28808935"/>
                  </a:lnTo>
                  <a:lnTo>
                    <a:pt x="9660255" y="28773120"/>
                  </a:lnTo>
                  <a:lnTo>
                    <a:pt x="3908552" y="27919681"/>
                  </a:lnTo>
                  <a:lnTo>
                    <a:pt x="1312418" y="27539570"/>
                  </a:lnTo>
                  <a:lnTo>
                    <a:pt x="401574" y="26901268"/>
                  </a:lnTo>
                  <a:lnTo>
                    <a:pt x="0" y="25868503"/>
                  </a:lnTo>
                  <a:lnTo>
                    <a:pt x="129032" y="24082757"/>
                  </a:lnTo>
                  <a:lnTo>
                    <a:pt x="2177796" y="2495804"/>
                  </a:lnTo>
                  <a:lnTo>
                    <a:pt x="2555494" y="1295781"/>
                  </a:lnTo>
                  <a:lnTo>
                    <a:pt x="3177032" y="698119"/>
                  </a:lnTo>
                  <a:close/>
                </a:path>
              </a:pathLst>
            </a:custGeom>
            <a:blipFill>
              <a:blip r:embed="rId5"/>
              <a:stretch>
                <a:fillRect l="-463" t="0" r="-463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27300" cy="29400500"/>
            </a:xfrm>
            <a:custGeom>
              <a:avLst/>
              <a:gdLst/>
              <a:ahLst/>
              <a:cxnLst/>
              <a:rect r="r" b="b" t="t" l="l"/>
              <a:pathLst>
                <a:path h="29400500" w="15227300">
                  <a:moveTo>
                    <a:pt x="0" y="0"/>
                  </a:moveTo>
                  <a:lnTo>
                    <a:pt x="0" y="29400500"/>
                  </a:lnTo>
                  <a:lnTo>
                    <a:pt x="15227300" y="29400500"/>
                  </a:lnTo>
                  <a:lnTo>
                    <a:pt x="15227300" y="0"/>
                  </a:lnTo>
                  <a:lnTo>
                    <a:pt x="0" y="0"/>
                  </a:lnTo>
                  <a:close/>
                  <a:moveTo>
                    <a:pt x="11360277" y="27711146"/>
                  </a:moveTo>
                  <a:lnTo>
                    <a:pt x="1549400" y="26076021"/>
                  </a:lnTo>
                  <a:lnTo>
                    <a:pt x="3700907" y="2968625"/>
                  </a:lnTo>
                  <a:lnTo>
                    <a:pt x="13296646" y="2968625"/>
                  </a:lnTo>
                  <a:lnTo>
                    <a:pt x="11360277" y="27711146"/>
                  </a:lnTo>
                  <a:close/>
                </a:path>
              </a:pathLst>
            </a:custGeom>
            <a:blipFill>
              <a:blip r:embed="rId6"/>
              <a:stretch>
                <a:fillRect l="-79" t="0" r="-7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0959" y="6318118"/>
            <a:ext cx="17229723" cy="3575920"/>
            <a:chOff x="0" y="0"/>
            <a:chExt cx="22972964" cy="47678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70080" cy="4765857"/>
            </a:xfrm>
            <a:custGeom>
              <a:avLst/>
              <a:gdLst/>
              <a:ahLst/>
              <a:cxnLst/>
              <a:rect r="r" b="b" t="t" l="l"/>
              <a:pathLst>
                <a:path h="4765857" w="22970080">
                  <a:moveTo>
                    <a:pt x="22073543" y="4765662"/>
                  </a:moveTo>
                  <a:lnTo>
                    <a:pt x="959699" y="4765662"/>
                  </a:lnTo>
                  <a:cubicBezTo>
                    <a:pt x="917514" y="4765662"/>
                    <a:pt x="875370" y="4763045"/>
                    <a:pt x="833509" y="4757827"/>
                  </a:cubicBezTo>
                  <a:lnTo>
                    <a:pt x="676019" y="4738193"/>
                  </a:lnTo>
                  <a:cubicBezTo>
                    <a:pt x="634289" y="4732991"/>
                    <a:pt x="593399" y="4722463"/>
                    <a:pt x="554346" y="4706867"/>
                  </a:cubicBezTo>
                  <a:lnTo>
                    <a:pt x="425769" y="4655517"/>
                  </a:lnTo>
                  <a:cubicBezTo>
                    <a:pt x="386745" y="4639932"/>
                    <a:pt x="350083" y="4618986"/>
                    <a:pt x="316841" y="4593282"/>
                  </a:cubicBezTo>
                  <a:lnTo>
                    <a:pt x="222936" y="4520671"/>
                  </a:lnTo>
                  <a:cubicBezTo>
                    <a:pt x="189751" y="4495012"/>
                    <a:pt x="160948" y="4464140"/>
                    <a:pt x="137648" y="4429258"/>
                  </a:cubicBezTo>
                  <a:lnTo>
                    <a:pt x="80840" y="4344212"/>
                  </a:lnTo>
                  <a:cubicBezTo>
                    <a:pt x="57602" y="4309424"/>
                    <a:pt x="41269" y="4270493"/>
                    <a:pt x="32730" y="4229539"/>
                  </a:cubicBezTo>
                  <a:lnTo>
                    <a:pt x="12929" y="4134574"/>
                  </a:lnTo>
                  <a:cubicBezTo>
                    <a:pt x="4332" y="4093347"/>
                    <a:pt x="0" y="4051345"/>
                    <a:pt x="0" y="4009231"/>
                  </a:cubicBezTo>
                  <a:lnTo>
                    <a:pt x="0" y="756431"/>
                  </a:lnTo>
                  <a:cubicBezTo>
                    <a:pt x="0" y="714317"/>
                    <a:pt x="4332" y="672315"/>
                    <a:pt x="12929" y="631088"/>
                  </a:cubicBezTo>
                  <a:lnTo>
                    <a:pt x="32730" y="536124"/>
                  </a:lnTo>
                  <a:cubicBezTo>
                    <a:pt x="41269" y="495169"/>
                    <a:pt x="57602" y="456238"/>
                    <a:pt x="80840" y="421450"/>
                  </a:cubicBezTo>
                  <a:lnTo>
                    <a:pt x="137648" y="336404"/>
                  </a:lnTo>
                  <a:cubicBezTo>
                    <a:pt x="160948" y="301522"/>
                    <a:pt x="189751" y="270650"/>
                    <a:pt x="222936" y="244991"/>
                  </a:cubicBezTo>
                  <a:lnTo>
                    <a:pt x="316841" y="172381"/>
                  </a:lnTo>
                  <a:cubicBezTo>
                    <a:pt x="350083" y="146677"/>
                    <a:pt x="386745" y="125730"/>
                    <a:pt x="425769" y="110146"/>
                  </a:cubicBezTo>
                  <a:lnTo>
                    <a:pt x="554346" y="58796"/>
                  </a:lnTo>
                  <a:cubicBezTo>
                    <a:pt x="593399" y="43199"/>
                    <a:pt x="634289" y="32671"/>
                    <a:pt x="676019" y="27469"/>
                  </a:cubicBezTo>
                  <a:lnTo>
                    <a:pt x="833509" y="7835"/>
                  </a:lnTo>
                  <a:cubicBezTo>
                    <a:pt x="875370" y="2617"/>
                    <a:pt x="917514" y="0"/>
                    <a:pt x="959699" y="0"/>
                  </a:cubicBezTo>
                  <a:lnTo>
                    <a:pt x="22010381" y="0"/>
                  </a:lnTo>
                  <a:cubicBezTo>
                    <a:pt x="22052545" y="0"/>
                    <a:pt x="22094647" y="3223"/>
                    <a:pt x="22136320" y="9641"/>
                  </a:cubicBezTo>
                  <a:lnTo>
                    <a:pt x="22354257" y="43207"/>
                  </a:lnTo>
                  <a:cubicBezTo>
                    <a:pt x="22395715" y="49592"/>
                    <a:pt x="22435860" y="62672"/>
                    <a:pt x="22473123" y="81936"/>
                  </a:cubicBezTo>
                  <a:lnTo>
                    <a:pt x="22651349" y="174075"/>
                  </a:lnTo>
                  <a:cubicBezTo>
                    <a:pt x="22688517" y="193290"/>
                    <a:pt x="22721675" y="219424"/>
                    <a:pt x="22749042" y="251074"/>
                  </a:cubicBezTo>
                  <a:lnTo>
                    <a:pt x="22860584" y="380074"/>
                  </a:lnTo>
                  <a:cubicBezTo>
                    <a:pt x="22887832" y="411585"/>
                    <a:pt x="22907405" y="448984"/>
                    <a:pt x="22917764" y="489333"/>
                  </a:cubicBezTo>
                  <a:lnTo>
                    <a:pt x="22954329" y="631744"/>
                  </a:lnTo>
                  <a:cubicBezTo>
                    <a:pt x="22964787" y="672481"/>
                    <a:pt x="22970080" y="714373"/>
                    <a:pt x="22970080" y="756431"/>
                  </a:cubicBezTo>
                  <a:lnTo>
                    <a:pt x="22970080" y="4009231"/>
                  </a:lnTo>
                  <a:cubicBezTo>
                    <a:pt x="22970080" y="4051345"/>
                    <a:pt x="22965752" y="4093348"/>
                    <a:pt x="22957163" y="4134577"/>
                  </a:cubicBezTo>
                  <a:lnTo>
                    <a:pt x="22937338" y="4229753"/>
                  </a:lnTo>
                  <a:cubicBezTo>
                    <a:pt x="22928807" y="4270709"/>
                    <a:pt x="22912477" y="4309641"/>
                    <a:pt x="22889240" y="4344429"/>
                  </a:cubicBezTo>
                  <a:lnTo>
                    <a:pt x="22832431" y="4429475"/>
                  </a:lnTo>
                  <a:cubicBezTo>
                    <a:pt x="22809132" y="4464357"/>
                    <a:pt x="22780329" y="4495229"/>
                    <a:pt x="22747143" y="4520888"/>
                  </a:cubicBezTo>
                  <a:lnTo>
                    <a:pt x="22653241" y="4593498"/>
                  </a:lnTo>
                  <a:cubicBezTo>
                    <a:pt x="22619998" y="4619202"/>
                    <a:pt x="22583336" y="4640148"/>
                    <a:pt x="22544312" y="4655733"/>
                  </a:cubicBezTo>
                  <a:lnTo>
                    <a:pt x="22415734" y="4707083"/>
                  </a:lnTo>
                  <a:cubicBezTo>
                    <a:pt x="22376681" y="4722680"/>
                    <a:pt x="22335790" y="4733205"/>
                    <a:pt x="22294059" y="4738402"/>
                  </a:cubicBezTo>
                  <a:lnTo>
                    <a:pt x="22073615" y="4765857"/>
                  </a:lnTo>
                  <a:cubicBezTo>
                    <a:pt x="22073594" y="4765859"/>
                    <a:pt x="22073572" y="4765847"/>
                    <a:pt x="22073564" y="4765827"/>
                  </a:cubicBezTo>
                  <a:cubicBezTo>
                    <a:pt x="22073555" y="4765807"/>
                    <a:pt x="22073561" y="4765784"/>
                    <a:pt x="22073580" y="4765771"/>
                  </a:cubicBezTo>
                  <a:lnTo>
                    <a:pt x="22073580" y="4765771"/>
                  </a:lnTo>
                  <a:cubicBezTo>
                    <a:pt x="22073600" y="4765755"/>
                    <a:pt x="22073608" y="4765728"/>
                    <a:pt x="22073600" y="4765703"/>
                  </a:cubicBezTo>
                  <a:cubicBezTo>
                    <a:pt x="22073591" y="4765678"/>
                    <a:pt x="22073567" y="4765662"/>
                    <a:pt x="22073543" y="4765662"/>
                  </a:cubicBezTo>
                  <a:close/>
                </a:path>
              </a:pathLst>
            </a:custGeom>
            <a:solidFill>
              <a:srgbClr val="E4EBF7"/>
            </a:solidFill>
            <a:ln w="57150" cap="sq">
              <a:solidFill>
                <a:srgbClr val="649DE9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261841" y="8459082"/>
            <a:ext cx="2623810" cy="3148572"/>
          </a:xfrm>
          <a:custGeom>
            <a:avLst/>
            <a:gdLst/>
            <a:ahLst/>
            <a:cxnLst/>
            <a:rect r="r" b="b" t="t" l="l"/>
            <a:pathLst>
              <a:path h="3148572" w="2623810">
                <a:moveTo>
                  <a:pt x="0" y="0"/>
                </a:moveTo>
                <a:lnTo>
                  <a:pt x="2623810" y="0"/>
                </a:lnTo>
                <a:lnTo>
                  <a:pt x="2623810" y="3148572"/>
                </a:lnTo>
                <a:lnTo>
                  <a:pt x="0" y="3148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30959" y="1757315"/>
            <a:ext cx="9069755" cy="3839701"/>
            <a:chOff x="0" y="0"/>
            <a:chExt cx="12093006" cy="51196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91488" cy="5117406"/>
            </a:xfrm>
            <a:custGeom>
              <a:avLst/>
              <a:gdLst/>
              <a:ahLst/>
              <a:cxnLst/>
              <a:rect r="r" b="b" t="t" l="l"/>
              <a:pathLst>
                <a:path h="5117406" w="12091488">
                  <a:moveTo>
                    <a:pt x="11619505" y="5117206"/>
                  </a:moveTo>
                  <a:lnTo>
                    <a:pt x="548755" y="5117206"/>
                  </a:lnTo>
                  <a:cubicBezTo>
                    <a:pt x="497681" y="5117206"/>
                    <a:pt x="446807" y="5110839"/>
                    <a:pt x="397309" y="5098252"/>
                  </a:cubicBezTo>
                  <a:lnTo>
                    <a:pt x="397309" y="5098252"/>
                  </a:lnTo>
                  <a:cubicBezTo>
                    <a:pt x="348209" y="5085766"/>
                    <a:pt x="302423" y="5062720"/>
                    <a:pt x="263144" y="5030722"/>
                  </a:cubicBezTo>
                  <a:lnTo>
                    <a:pt x="257967" y="5026504"/>
                  </a:lnTo>
                  <a:cubicBezTo>
                    <a:pt x="215045" y="4991538"/>
                    <a:pt x="178048" y="4949873"/>
                    <a:pt x="148404" y="4903117"/>
                  </a:cubicBezTo>
                  <a:lnTo>
                    <a:pt x="142070" y="4893126"/>
                  </a:lnTo>
                  <a:cubicBezTo>
                    <a:pt x="108140" y="4839610"/>
                    <a:pt x="81003" y="4782081"/>
                    <a:pt x="61284" y="4721862"/>
                  </a:cubicBezTo>
                  <a:lnTo>
                    <a:pt x="57506" y="4710327"/>
                  </a:lnTo>
                  <a:cubicBezTo>
                    <a:pt x="35256" y="4642381"/>
                    <a:pt x="20368" y="4572242"/>
                    <a:pt x="13097" y="4501116"/>
                  </a:cubicBezTo>
                  <a:lnTo>
                    <a:pt x="12017" y="4490550"/>
                  </a:lnTo>
                  <a:cubicBezTo>
                    <a:pt x="4011" y="4412225"/>
                    <a:pt x="0" y="4333543"/>
                    <a:pt x="0" y="4254810"/>
                  </a:cubicBezTo>
                  <a:lnTo>
                    <a:pt x="0" y="862395"/>
                  </a:lnTo>
                  <a:cubicBezTo>
                    <a:pt x="0" y="783662"/>
                    <a:pt x="4011" y="704981"/>
                    <a:pt x="12017" y="626656"/>
                  </a:cubicBezTo>
                  <a:lnTo>
                    <a:pt x="13097" y="616090"/>
                  </a:lnTo>
                  <a:cubicBezTo>
                    <a:pt x="20368" y="544964"/>
                    <a:pt x="35256" y="474825"/>
                    <a:pt x="57506" y="406879"/>
                  </a:cubicBezTo>
                  <a:lnTo>
                    <a:pt x="61284" y="395343"/>
                  </a:lnTo>
                  <a:cubicBezTo>
                    <a:pt x="81003" y="335125"/>
                    <a:pt x="108140" y="277595"/>
                    <a:pt x="142070" y="224080"/>
                  </a:cubicBezTo>
                  <a:lnTo>
                    <a:pt x="148404" y="214089"/>
                  </a:lnTo>
                  <a:cubicBezTo>
                    <a:pt x="178048" y="167333"/>
                    <a:pt x="215045" y="125668"/>
                    <a:pt x="257967" y="90702"/>
                  </a:cubicBezTo>
                  <a:lnTo>
                    <a:pt x="263144" y="86484"/>
                  </a:lnTo>
                  <a:cubicBezTo>
                    <a:pt x="302423" y="54486"/>
                    <a:pt x="348209" y="31440"/>
                    <a:pt x="397309" y="18954"/>
                  </a:cubicBezTo>
                  <a:lnTo>
                    <a:pt x="397309" y="18954"/>
                  </a:lnTo>
                  <a:cubicBezTo>
                    <a:pt x="446807" y="6367"/>
                    <a:pt x="497681" y="0"/>
                    <a:pt x="548755" y="0"/>
                  </a:cubicBezTo>
                  <a:lnTo>
                    <a:pt x="11524976" y="0"/>
                  </a:lnTo>
                  <a:cubicBezTo>
                    <a:pt x="11587721" y="0"/>
                    <a:pt x="11650097" y="9568"/>
                    <a:pt x="11709957" y="28373"/>
                  </a:cubicBezTo>
                  <a:lnTo>
                    <a:pt x="11709957" y="28373"/>
                  </a:lnTo>
                  <a:cubicBezTo>
                    <a:pt x="11769186" y="46981"/>
                    <a:pt x="11822690" y="80389"/>
                    <a:pt x="11865409" y="125438"/>
                  </a:cubicBezTo>
                  <a:lnTo>
                    <a:pt x="11876798" y="137448"/>
                  </a:lnTo>
                  <a:cubicBezTo>
                    <a:pt x="11927405" y="190816"/>
                    <a:pt x="11968027" y="252831"/>
                    <a:pt x="11996731" y="320546"/>
                  </a:cubicBezTo>
                  <a:lnTo>
                    <a:pt x="12004491" y="338852"/>
                  </a:lnTo>
                  <a:cubicBezTo>
                    <a:pt x="12038440" y="418938"/>
                    <a:pt x="12061167" y="503327"/>
                    <a:pt x="12072030" y="589629"/>
                  </a:cubicBezTo>
                  <a:lnTo>
                    <a:pt x="12073573" y="601887"/>
                  </a:lnTo>
                  <a:cubicBezTo>
                    <a:pt x="12085505" y="696682"/>
                    <a:pt x="12091488" y="792131"/>
                    <a:pt x="12091488" y="887674"/>
                  </a:cubicBezTo>
                  <a:lnTo>
                    <a:pt x="12091488" y="4254695"/>
                  </a:lnTo>
                  <a:cubicBezTo>
                    <a:pt x="12091488" y="4333504"/>
                    <a:pt x="12087477" y="4412264"/>
                    <a:pt x="12079471" y="4490666"/>
                  </a:cubicBezTo>
                  <a:lnTo>
                    <a:pt x="12078380" y="4501347"/>
                  </a:lnTo>
                  <a:cubicBezTo>
                    <a:pt x="12071117" y="4572474"/>
                    <a:pt x="12056232" y="4642614"/>
                    <a:pt x="12033983" y="4710560"/>
                  </a:cubicBezTo>
                  <a:lnTo>
                    <a:pt x="12030204" y="4722095"/>
                  </a:lnTo>
                  <a:cubicBezTo>
                    <a:pt x="12010485" y="4782314"/>
                    <a:pt x="11983348" y="4839843"/>
                    <a:pt x="11949419" y="4893359"/>
                  </a:cubicBezTo>
                  <a:lnTo>
                    <a:pt x="11943085" y="4903349"/>
                  </a:lnTo>
                  <a:cubicBezTo>
                    <a:pt x="11913440" y="4950105"/>
                    <a:pt x="11876443" y="4991771"/>
                    <a:pt x="11833521" y="5026737"/>
                  </a:cubicBezTo>
                  <a:lnTo>
                    <a:pt x="11828399" y="5030910"/>
                  </a:lnTo>
                  <a:cubicBezTo>
                    <a:pt x="11789084" y="5062937"/>
                    <a:pt x="11743253" y="5085998"/>
                    <a:pt x="11694106" y="5098484"/>
                  </a:cubicBezTo>
                  <a:lnTo>
                    <a:pt x="11619628" y="5117404"/>
                  </a:lnTo>
                  <a:cubicBezTo>
                    <a:pt x="11619606" y="5117410"/>
                    <a:pt x="11619584" y="5117401"/>
                    <a:pt x="11619571" y="5117383"/>
                  </a:cubicBezTo>
                  <a:cubicBezTo>
                    <a:pt x="11619557" y="5117365"/>
                    <a:pt x="11619557" y="5117341"/>
                    <a:pt x="11619569" y="5117322"/>
                  </a:cubicBezTo>
                  <a:lnTo>
                    <a:pt x="11619569" y="5117322"/>
                  </a:lnTo>
                  <a:cubicBezTo>
                    <a:pt x="11619584" y="5117299"/>
                    <a:pt x="11619585" y="5117269"/>
                    <a:pt x="11619571" y="5117245"/>
                  </a:cubicBezTo>
                  <a:cubicBezTo>
                    <a:pt x="11619558" y="5117221"/>
                    <a:pt x="11619533" y="5117206"/>
                    <a:pt x="11619505" y="5117206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649DE9"/>
              </a:soli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72990" y="2357563"/>
            <a:ext cx="2651674" cy="2356344"/>
          </a:xfrm>
          <a:custGeom>
            <a:avLst/>
            <a:gdLst/>
            <a:ahLst/>
            <a:cxnLst/>
            <a:rect r="r" b="b" t="t" l="l"/>
            <a:pathLst>
              <a:path h="2356344" w="2651674">
                <a:moveTo>
                  <a:pt x="0" y="0"/>
                </a:moveTo>
                <a:lnTo>
                  <a:pt x="2651674" y="0"/>
                </a:lnTo>
                <a:lnTo>
                  <a:pt x="2651674" y="2356345"/>
                </a:lnTo>
                <a:lnTo>
                  <a:pt x="0" y="23563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8834" t="-18136" r="-85261" b="-49984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3564515" y="2127285"/>
            <a:ext cx="0" cy="2816902"/>
          </a:xfrm>
          <a:prstGeom prst="line">
            <a:avLst/>
          </a:prstGeom>
          <a:ln cap="flat" w="19050">
            <a:solidFill>
              <a:srgbClr val="649D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5248638" y="5949441"/>
            <a:ext cx="7635561" cy="676988"/>
            <a:chOff x="0" y="0"/>
            <a:chExt cx="10180748" cy="9026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79469" cy="902266"/>
            </a:xfrm>
            <a:custGeom>
              <a:avLst/>
              <a:gdLst/>
              <a:ahLst/>
              <a:cxnLst/>
              <a:rect r="r" b="b" t="t" l="l"/>
              <a:pathLst>
                <a:path h="902266" w="10179469">
                  <a:moveTo>
                    <a:pt x="9782171" y="902228"/>
                  </a:moveTo>
                  <a:lnTo>
                    <a:pt x="460072" y="902228"/>
                  </a:lnTo>
                  <a:cubicBezTo>
                    <a:pt x="418187" y="902228"/>
                    <a:pt x="376309" y="901114"/>
                    <a:pt x="334483" y="898887"/>
                  </a:cubicBezTo>
                  <a:lnTo>
                    <a:pt x="327000" y="898488"/>
                  </a:lnTo>
                  <a:cubicBezTo>
                    <a:pt x="290186" y="896527"/>
                    <a:pt x="253516" y="892437"/>
                    <a:pt x="217175" y="886237"/>
                  </a:cubicBezTo>
                  <a:lnTo>
                    <a:pt x="207271" y="884547"/>
                  </a:lnTo>
                  <a:cubicBezTo>
                    <a:pt x="177544" y="879475"/>
                    <a:pt x="148239" y="872179"/>
                    <a:pt x="119604" y="862720"/>
                  </a:cubicBezTo>
                  <a:lnTo>
                    <a:pt x="108352" y="859003"/>
                  </a:lnTo>
                  <a:cubicBezTo>
                    <a:pt x="87261" y="852037"/>
                    <a:pt x="67125" y="842458"/>
                    <a:pt x="48413" y="830491"/>
                  </a:cubicBezTo>
                  <a:lnTo>
                    <a:pt x="39665" y="824896"/>
                  </a:lnTo>
                  <a:cubicBezTo>
                    <a:pt x="26957" y="816769"/>
                    <a:pt x="16734" y="805297"/>
                    <a:pt x="10117" y="791741"/>
                  </a:cubicBezTo>
                  <a:lnTo>
                    <a:pt x="10117" y="791741"/>
                  </a:lnTo>
                  <a:cubicBezTo>
                    <a:pt x="3460" y="778102"/>
                    <a:pt x="0" y="763125"/>
                    <a:pt x="0" y="747948"/>
                  </a:cubicBezTo>
                  <a:lnTo>
                    <a:pt x="0" y="154280"/>
                  </a:lnTo>
                  <a:cubicBezTo>
                    <a:pt x="0" y="139104"/>
                    <a:pt x="3460" y="124126"/>
                    <a:pt x="10117" y="110487"/>
                  </a:cubicBezTo>
                  <a:lnTo>
                    <a:pt x="10117" y="110487"/>
                  </a:lnTo>
                  <a:cubicBezTo>
                    <a:pt x="16734" y="96931"/>
                    <a:pt x="26957" y="85460"/>
                    <a:pt x="39665" y="77332"/>
                  </a:cubicBezTo>
                  <a:lnTo>
                    <a:pt x="48413" y="71738"/>
                  </a:lnTo>
                  <a:cubicBezTo>
                    <a:pt x="67125" y="59771"/>
                    <a:pt x="87261" y="50192"/>
                    <a:pt x="108352" y="43225"/>
                  </a:cubicBezTo>
                  <a:lnTo>
                    <a:pt x="119604" y="39508"/>
                  </a:lnTo>
                  <a:cubicBezTo>
                    <a:pt x="148239" y="30049"/>
                    <a:pt x="177544" y="22753"/>
                    <a:pt x="207271" y="17682"/>
                  </a:cubicBezTo>
                  <a:lnTo>
                    <a:pt x="217175" y="15992"/>
                  </a:lnTo>
                  <a:cubicBezTo>
                    <a:pt x="253516" y="9792"/>
                    <a:pt x="290186" y="5701"/>
                    <a:pt x="327000" y="3740"/>
                  </a:cubicBezTo>
                  <a:lnTo>
                    <a:pt x="334483" y="3342"/>
                  </a:lnTo>
                  <a:cubicBezTo>
                    <a:pt x="376309" y="1114"/>
                    <a:pt x="418187" y="0"/>
                    <a:pt x="460072" y="0"/>
                  </a:cubicBezTo>
                  <a:lnTo>
                    <a:pt x="9706039" y="0"/>
                  </a:lnTo>
                  <a:cubicBezTo>
                    <a:pt x="9756823" y="0"/>
                    <a:pt x="9807594" y="1668"/>
                    <a:pt x="9858270" y="5003"/>
                  </a:cubicBezTo>
                  <a:lnTo>
                    <a:pt x="9868466" y="5673"/>
                  </a:lnTo>
                  <a:cubicBezTo>
                    <a:pt x="9912293" y="8557"/>
                    <a:pt x="9955840" y="14762"/>
                    <a:pt x="9998728" y="24234"/>
                  </a:cubicBezTo>
                  <a:lnTo>
                    <a:pt x="10016240" y="28101"/>
                  </a:lnTo>
                  <a:cubicBezTo>
                    <a:pt x="10047402" y="34984"/>
                    <a:pt x="10077618" y="45608"/>
                    <a:pt x="10106230" y="59744"/>
                  </a:cubicBezTo>
                  <a:lnTo>
                    <a:pt x="10123055" y="68057"/>
                  </a:lnTo>
                  <a:cubicBezTo>
                    <a:pt x="10140193" y="76524"/>
                    <a:pt x="10154540" y="89736"/>
                    <a:pt x="10164387" y="106120"/>
                  </a:cubicBezTo>
                  <a:lnTo>
                    <a:pt x="10164387" y="106120"/>
                  </a:lnTo>
                  <a:cubicBezTo>
                    <a:pt x="10174256" y="122540"/>
                    <a:pt x="10179469" y="141337"/>
                    <a:pt x="10179469" y="160494"/>
                  </a:cubicBezTo>
                  <a:lnTo>
                    <a:pt x="10179469" y="747929"/>
                  </a:lnTo>
                  <a:cubicBezTo>
                    <a:pt x="10179469" y="763119"/>
                    <a:pt x="10176009" y="778109"/>
                    <a:pt x="10169352" y="791762"/>
                  </a:cubicBezTo>
                  <a:lnTo>
                    <a:pt x="10169352" y="791762"/>
                  </a:lnTo>
                  <a:cubicBezTo>
                    <a:pt x="10162735" y="805331"/>
                    <a:pt x="10152506" y="816813"/>
                    <a:pt x="10139788" y="824947"/>
                  </a:cubicBezTo>
                  <a:lnTo>
                    <a:pt x="10131057" y="830532"/>
                  </a:lnTo>
                  <a:cubicBezTo>
                    <a:pt x="10112344" y="842499"/>
                    <a:pt x="10092208" y="852078"/>
                    <a:pt x="10071117" y="859044"/>
                  </a:cubicBezTo>
                  <a:lnTo>
                    <a:pt x="10059865" y="862761"/>
                  </a:lnTo>
                  <a:cubicBezTo>
                    <a:pt x="10031230" y="872220"/>
                    <a:pt x="10001926" y="879516"/>
                    <a:pt x="9972198" y="884588"/>
                  </a:cubicBezTo>
                  <a:lnTo>
                    <a:pt x="9962295" y="886278"/>
                  </a:lnTo>
                  <a:cubicBezTo>
                    <a:pt x="9925954" y="892478"/>
                    <a:pt x="9889284" y="896567"/>
                    <a:pt x="9852469" y="898526"/>
                  </a:cubicBezTo>
                  <a:lnTo>
                    <a:pt x="9782177" y="902266"/>
                  </a:lnTo>
                  <a:cubicBezTo>
                    <a:pt x="9782173" y="902266"/>
                    <a:pt x="9782170" y="902263"/>
                    <a:pt x="9782168" y="902259"/>
                  </a:cubicBezTo>
                  <a:cubicBezTo>
                    <a:pt x="9782167" y="902255"/>
                    <a:pt x="9782170" y="902250"/>
                    <a:pt x="9782174" y="902249"/>
                  </a:cubicBezTo>
                  <a:lnTo>
                    <a:pt x="9782174" y="902249"/>
                  </a:lnTo>
                  <a:cubicBezTo>
                    <a:pt x="9782179" y="902247"/>
                    <a:pt x="9782182" y="902242"/>
                    <a:pt x="9782181" y="902237"/>
                  </a:cubicBezTo>
                  <a:cubicBezTo>
                    <a:pt x="9782180" y="902232"/>
                    <a:pt x="9782176" y="902228"/>
                    <a:pt x="9782171" y="902228"/>
                  </a:cubicBezTo>
                  <a:close/>
                </a:path>
              </a:pathLst>
            </a:custGeom>
            <a:solidFill>
              <a:srgbClr val="649DE9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 descr="$PPTXTitle"/>
          <p:cNvSpPr txBox="true"/>
          <p:nvPr/>
        </p:nvSpPr>
        <p:spPr>
          <a:xfrm rot="0">
            <a:off x="328058" y="298638"/>
            <a:ext cx="7489117" cy="117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6"/>
              </a:lnSpc>
            </a:pPr>
            <a:r>
              <a:rPr lang="en-US" sz="7638" spc="-356">
                <a:solidFill>
                  <a:srgbClr val="394876"/>
                </a:solidFill>
                <a:latin typeface="The Seasons"/>
                <a:ea typeface="The Seasons"/>
                <a:cs typeface="The Seasons"/>
                <a:sym typeface="The Seasons"/>
              </a:rPr>
              <a:t>Proposed Solution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15030" y="2305566"/>
            <a:ext cx="5849046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  <a:spcBef>
                <a:spcPct val="0"/>
              </a:spcBef>
            </a:pPr>
            <a:r>
              <a:rPr lang="en-US" sz="3012" spc="-25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A smart travel platform that enables users to discover and choose </a:t>
            </a:r>
            <a:r>
              <a:rPr lang="en-US" b="true" sz="3012" spc="-25">
                <a:solidFill>
                  <a:srgbClr val="649DE9"/>
                </a:solidFill>
                <a:latin typeface="Tomorrow Bold"/>
                <a:ea typeface="Tomorrow Bold"/>
                <a:cs typeface="Tomorrow Bold"/>
                <a:sym typeface="Tomorrow Bold"/>
              </a:rPr>
              <a:t>sustainable, accessible and practical travel</a:t>
            </a:r>
            <a:r>
              <a:rPr lang="en-US" sz="3012" spc="-25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3012" spc="-25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options based on their individual needs.</a:t>
            </a:r>
          </a:p>
        </p:txBody>
      </p:sp>
      <p:sp>
        <p:nvSpPr>
          <p:cNvPr name="TextBox 21" id="21" descr="$PPTXTitle"/>
          <p:cNvSpPr txBox="true"/>
          <p:nvPr/>
        </p:nvSpPr>
        <p:spPr>
          <a:xfrm rot="0">
            <a:off x="5407443" y="5994268"/>
            <a:ext cx="7476756" cy="7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4638" spc="-216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How It Addresses The Problem</a:t>
            </a:r>
          </a:p>
        </p:txBody>
      </p:sp>
      <p:sp>
        <p:nvSpPr>
          <p:cNvPr name="AutoShape 22" id="22"/>
          <p:cNvSpPr/>
          <p:nvPr/>
        </p:nvSpPr>
        <p:spPr>
          <a:xfrm>
            <a:off x="3554990" y="6701123"/>
            <a:ext cx="0" cy="2816902"/>
          </a:xfrm>
          <a:prstGeom prst="line">
            <a:avLst/>
          </a:prstGeom>
          <a:ln cap="flat" w="19050">
            <a:solidFill>
              <a:srgbClr val="7A8A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6941051" y="6701123"/>
            <a:ext cx="0" cy="2816902"/>
          </a:xfrm>
          <a:prstGeom prst="line">
            <a:avLst/>
          </a:prstGeom>
          <a:ln cap="flat" w="19050">
            <a:solidFill>
              <a:srgbClr val="7A8A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758988" y="7056351"/>
            <a:ext cx="25656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S</a:t>
            </a: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ustainability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2120" y="7618722"/>
            <a:ext cx="2472544" cy="146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P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romotes environmen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ta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y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r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es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pon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sible travel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 choices.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65800" y="7056351"/>
            <a:ext cx="25656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Acces</a:t>
            </a: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sibility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50626" y="6809097"/>
            <a:ext cx="256567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T</a:t>
            </a: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ime &amp; Convenience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35452" y="7056351"/>
            <a:ext cx="280380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Per</a:t>
            </a: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sonalization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58402" y="7056351"/>
            <a:ext cx="256567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B</a:t>
            </a: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udget 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0325877" y="6701123"/>
            <a:ext cx="0" cy="2816902"/>
          </a:xfrm>
          <a:prstGeom prst="line">
            <a:avLst/>
          </a:prstGeom>
          <a:ln cap="flat" w="19050">
            <a:solidFill>
              <a:srgbClr val="7A8A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3948827" y="6701123"/>
            <a:ext cx="0" cy="2816902"/>
          </a:xfrm>
          <a:prstGeom prst="line">
            <a:avLst/>
          </a:prstGeom>
          <a:ln cap="flat" w="19050">
            <a:solidFill>
              <a:srgbClr val="7A8AB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3965800" y="7618722"/>
            <a:ext cx="2472544" cy="182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H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elps users find options 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that match thei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r acc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essibility ne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eds.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97192" y="7723497"/>
            <a:ext cx="2472544" cy="146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 Ba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lances travel time, comfort 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and convenienc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83077" y="7589751"/>
            <a:ext cx="2710669" cy="182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Tai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lors recommendations to e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ach user’s individual requirem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ents.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58402" y="7552007"/>
            <a:ext cx="2710669" cy="109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  <a:spcBef>
                <a:spcPct val="0"/>
              </a:spcBef>
            </a:pP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R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ecommends choices that fit the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 user’s budge</a:t>
            </a:r>
            <a:r>
              <a:rPr lang="en-US" sz="2392" spc="-19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876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4EBF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548491" y="6584502"/>
            <a:ext cx="9554285" cy="4299428"/>
          </a:xfrm>
          <a:custGeom>
            <a:avLst/>
            <a:gdLst/>
            <a:ahLst/>
            <a:cxnLst/>
            <a:rect r="r" b="b" t="t" l="l"/>
            <a:pathLst>
              <a:path h="4299428" w="9554285">
                <a:moveTo>
                  <a:pt x="0" y="0"/>
                </a:moveTo>
                <a:lnTo>
                  <a:pt x="9554285" y="0"/>
                </a:lnTo>
                <a:lnTo>
                  <a:pt x="9554285" y="4299428"/>
                </a:lnTo>
                <a:lnTo>
                  <a:pt x="0" y="429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522010" y="-353520"/>
            <a:ext cx="7315200" cy="2487168"/>
          </a:xfrm>
          <a:custGeom>
            <a:avLst/>
            <a:gdLst/>
            <a:ahLst/>
            <a:cxnLst/>
            <a:rect r="r" b="b" t="t" l="l"/>
            <a:pathLst>
              <a:path h="2487168" w="7315200">
                <a:moveTo>
                  <a:pt x="7315200" y="0"/>
                </a:moveTo>
                <a:lnTo>
                  <a:pt x="0" y="0"/>
                </a:lnTo>
                <a:lnTo>
                  <a:pt x="0" y="2487168"/>
                </a:lnTo>
                <a:lnTo>
                  <a:pt x="7315200" y="24871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876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2184411"/>
            <a:ext cx="9409236" cy="7375513"/>
          </a:xfrm>
          <a:custGeom>
            <a:avLst/>
            <a:gdLst/>
            <a:ahLst/>
            <a:cxnLst/>
            <a:rect r="r" b="b" t="t" l="l"/>
            <a:pathLst>
              <a:path h="7375513" w="9409236">
                <a:moveTo>
                  <a:pt x="0" y="0"/>
                </a:moveTo>
                <a:lnTo>
                  <a:pt x="9409236" y="0"/>
                </a:lnTo>
                <a:lnTo>
                  <a:pt x="9409236" y="7375514"/>
                </a:lnTo>
                <a:lnTo>
                  <a:pt x="0" y="7375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80" t="-18953" r="-4590" b="-8838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9285471" y="1881220"/>
            <a:ext cx="0" cy="7981896"/>
          </a:xfrm>
          <a:prstGeom prst="line">
            <a:avLst/>
          </a:prstGeom>
          <a:ln cap="flat" w="9525">
            <a:solidFill>
              <a:srgbClr val="7A8A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285471" y="1881220"/>
            <a:ext cx="8652043" cy="7981896"/>
          </a:xfrm>
          <a:custGeom>
            <a:avLst/>
            <a:gdLst/>
            <a:ahLst/>
            <a:cxnLst/>
            <a:rect r="r" b="b" t="t" l="l"/>
            <a:pathLst>
              <a:path h="7981896" w="8652043">
                <a:moveTo>
                  <a:pt x="0" y="0"/>
                </a:moveTo>
                <a:lnTo>
                  <a:pt x="8652043" y="0"/>
                </a:lnTo>
                <a:lnTo>
                  <a:pt x="8652043" y="7981896"/>
                </a:lnTo>
                <a:lnTo>
                  <a:pt x="0" y="79818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59" t="-959" r="-4986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5352394" y="8165528"/>
            <a:ext cx="7315200" cy="2487168"/>
          </a:xfrm>
          <a:custGeom>
            <a:avLst/>
            <a:gdLst/>
            <a:ahLst/>
            <a:cxnLst/>
            <a:rect r="r" b="b" t="t" l="l"/>
            <a:pathLst>
              <a:path h="2487168" w="7315200">
                <a:moveTo>
                  <a:pt x="7315200" y="0"/>
                </a:moveTo>
                <a:lnTo>
                  <a:pt x="0" y="0"/>
                </a:lnTo>
                <a:lnTo>
                  <a:pt x="0" y="2487168"/>
                </a:lnTo>
                <a:lnTo>
                  <a:pt x="7315200" y="24871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804789">
            <a:off x="14245756" y="-2123768"/>
            <a:ext cx="6027087" cy="7581242"/>
          </a:xfrm>
          <a:custGeom>
            <a:avLst/>
            <a:gdLst/>
            <a:ahLst/>
            <a:cxnLst/>
            <a:rect r="r" b="b" t="t" l="l"/>
            <a:pathLst>
              <a:path h="7581242" w="6027087">
                <a:moveTo>
                  <a:pt x="0" y="0"/>
                </a:moveTo>
                <a:lnTo>
                  <a:pt x="6027088" y="0"/>
                </a:lnTo>
                <a:lnTo>
                  <a:pt x="6027088" y="7581242"/>
                </a:lnTo>
                <a:lnTo>
                  <a:pt x="0" y="7581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 descr="$PPTXTitle"/>
          <p:cNvSpPr txBox="true"/>
          <p:nvPr/>
        </p:nvSpPr>
        <p:spPr>
          <a:xfrm rot="0">
            <a:off x="1028700" y="480038"/>
            <a:ext cx="10198655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8"/>
              </a:lnSpc>
            </a:pPr>
            <a:r>
              <a:rPr lang="en-US" b="true" sz="7640" spc="-318">
                <a:solidFill>
                  <a:srgbClr val="394876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Flow Chart /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985" y="2119271"/>
            <a:ext cx="5196273" cy="6433971"/>
            <a:chOff x="0" y="0"/>
            <a:chExt cx="1368566" cy="16945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8566" cy="1694544"/>
            </a:xfrm>
            <a:custGeom>
              <a:avLst/>
              <a:gdLst/>
              <a:ahLst/>
              <a:cxnLst/>
              <a:rect r="r" b="b" t="t" l="l"/>
              <a:pathLst>
                <a:path h="1694544" w="1368566">
                  <a:moveTo>
                    <a:pt x="75985" y="0"/>
                  </a:moveTo>
                  <a:lnTo>
                    <a:pt x="1292581" y="0"/>
                  </a:lnTo>
                  <a:cubicBezTo>
                    <a:pt x="1334546" y="0"/>
                    <a:pt x="1368566" y="34020"/>
                    <a:pt x="1368566" y="75985"/>
                  </a:cubicBezTo>
                  <a:lnTo>
                    <a:pt x="1368566" y="1618559"/>
                  </a:lnTo>
                  <a:cubicBezTo>
                    <a:pt x="1368566" y="1660524"/>
                    <a:pt x="1334546" y="1694544"/>
                    <a:pt x="1292581" y="1694544"/>
                  </a:cubicBezTo>
                  <a:lnTo>
                    <a:pt x="75985" y="1694544"/>
                  </a:lnTo>
                  <a:cubicBezTo>
                    <a:pt x="34020" y="1694544"/>
                    <a:pt x="0" y="1660524"/>
                    <a:pt x="0" y="1618559"/>
                  </a:cubicBezTo>
                  <a:lnTo>
                    <a:pt x="0" y="75985"/>
                  </a:lnTo>
                  <a:cubicBezTo>
                    <a:pt x="0" y="34020"/>
                    <a:pt x="34020" y="0"/>
                    <a:pt x="75985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368566" cy="1713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98259" y="2119271"/>
            <a:ext cx="5196273" cy="6433971"/>
            <a:chOff x="0" y="0"/>
            <a:chExt cx="1368566" cy="1694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8566" cy="1694544"/>
            </a:xfrm>
            <a:custGeom>
              <a:avLst/>
              <a:gdLst/>
              <a:ahLst/>
              <a:cxnLst/>
              <a:rect r="r" b="b" t="t" l="l"/>
              <a:pathLst>
                <a:path h="1694544" w="1368566">
                  <a:moveTo>
                    <a:pt x="75985" y="0"/>
                  </a:moveTo>
                  <a:lnTo>
                    <a:pt x="1292581" y="0"/>
                  </a:lnTo>
                  <a:cubicBezTo>
                    <a:pt x="1334546" y="0"/>
                    <a:pt x="1368566" y="34020"/>
                    <a:pt x="1368566" y="75985"/>
                  </a:cubicBezTo>
                  <a:lnTo>
                    <a:pt x="1368566" y="1618559"/>
                  </a:lnTo>
                  <a:cubicBezTo>
                    <a:pt x="1368566" y="1660524"/>
                    <a:pt x="1334546" y="1694544"/>
                    <a:pt x="1292581" y="1694544"/>
                  </a:cubicBezTo>
                  <a:lnTo>
                    <a:pt x="75985" y="1694544"/>
                  </a:lnTo>
                  <a:cubicBezTo>
                    <a:pt x="34020" y="1694544"/>
                    <a:pt x="0" y="1660524"/>
                    <a:pt x="0" y="1618559"/>
                  </a:cubicBezTo>
                  <a:lnTo>
                    <a:pt x="0" y="75985"/>
                  </a:lnTo>
                  <a:cubicBezTo>
                    <a:pt x="0" y="34020"/>
                    <a:pt x="34020" y="0"/>
                    <a:pt x="75985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68566" cy="1713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56532" y="2119271"/>
            <a:ext cx="5196273" cy="6433971"/>
            <a:chOff x="0" y="0"/>
            <a:chExt cx="1368566" cy="16945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8566" cy="1694544"/>
            </a:xfrm>
            <a:custGeom>
              <a:avLst/>
              <a:gdLst/>
              <a:ahLst/>
              <a:cxnLst/>
              <a:rect r="r" b="b" t="t" l="l"/>
              <a:pathLst>
                <a:path h="1694544" w="1368566">
                  <a:moveTo>
                    <a:pt x="75985" y="0"/>
                  </a:moveTo>
                  <a:lnTo>
                    <a:pt x="1292581" y="0"/>
                  </a:lnTo>
                  <a:cubicBezTo>
                    <a:pt x="1334546" y="0"/>
                    <a:pt x="1368566" y="34020"/>
                    <a:pt x="1368566" y="75985"/>
                  </a:cubicBezTo>
                  <a:lnTo>
                    <a:pt x="1368566" y="1618559"/>
                  </a:lnTo>
                  <a:cubicBezTo>
                    <a:pt x="1368566" y="1660524"/>
                    <a:pt x="1334546" y="1694544"/>
                    <a:pt x="1292581" y="1694544"/>
                  </a:cubicBezTo>
                  <a:lnTo>
                    <a:pt x="75985" y="1694544"/>
                  </a:lnTo>
                  <a:cubicBezTo>
                    <a:pt x="34020" y="1694544"/>
                    <a:pt x="0" y="1660524"/>
                    <a:pt x="0" y="1618559"/>
                  </a:cubicBezTo>
                  <a:lnTo>
                    <a:pt x="0" y="75985"/>
                  </a:lnTo>
                  <a:cubicBezTo>
                    <a:pt x="0" y="34020"/>
                    <a:pt x="34020" y="0"/>
                    <a:pt x="75985" y="0"/>
                  </a:cubicBezTo>
                  <a:close/>
                </a:path>
              </a:pathLst>
            </a:custGeom>
            <a:solidFill>
              <a:srgbClr val="BFD2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368566" cy="1713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9985" y="8697409"/>
            <a:ext cx="11536891" cy="1422309"/>
            <a:chOff x="0" y="0"/>
            <a:chExt cx="3038523" cy="374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38523" cy="374600"/>
            </a:xfrm>
            <a:custGeom>
              <a:avLst/>
              <a:gdLst/>
              <a:ahLst/>
              <a:cxnLst/>
              <a:rect r="r" b="b" t="t" l="l"/>
              <a:pathLst>
                <a:path h="374600" w="3038523">
                  <a:moveTo>
                    <a:pt x="25500" y="0"/>
                  </a:moveTo>
                  <a:lnTo>
                    <a:pt x="3013022" y="0"/>
                  </a:lnTo>
                  <a:cubicBezTo>
                    <a:pt x="3027106" y="0"/>
                    <a:pt x="3038523" y="11417"/>
                    <a:pt x="3038523" y="25500"/>
                  </a:cubicBezTo>
                  <a:lnTo>
                    <a:pt x="3038523" y="349100"/>
                  </a:lnTo>
                  <a:cubicBezTo>
                    <a:pt x="3038523" y="355863"/>
                    <a:pt x="3035836" y="362349"/>
                    <a:pt x="3031054" y="367131"/>
                  </a:cubicBezTo>
                  <a:cubicBezTo>
                    <a:pt x="3026272" y="371913"/>
                    <a:pt x="3019786" y="374600"/>
                    <a:pt x="3013022" y="374600"/>
                  </a:cubicBezTo>
                  <a:lnTo>
                    <a:pt x="25500" y="374600"/>
                  </a:lnTo>
                  <a:cubicBezTo>
                    <a:pt x="11417" y="374600"/>
                    <a:pt x="0" y="363183"/>
                    <a:pt x="0" y="349100"/>
                  </a:cubicBezTo>
                  <a:lnTo>
                    <a:pt x="0" y="25500"/>
                  </a:lnTo>
                  <a:cubicBezTo>
                    <a:pt x="0" y="11417"/>
                    <a:pt x="11417" y="0"/>
                    <a:pt x="25500" y="0"/>
                  </a:cubicBezTo>
                  <a:close/>
                </a:path>
              </a:pathLst>
            </a:custGeom>
            <a:solidFill>
              <a:srgbClr val="BFD2F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038523" cy="39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8075" y="7507799"/>
            <a:ext cx="4119145" cy="935355"/>
            <a:chOff x="0" y="0"/>
            <a:chExt cx="1084834" cy="246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4834" cy="246380"/>
            </a:xfrm>
            <a:custGeom>
              <a:avLst/>
              <a:gdLst/>
              <a:ahLst/>
              <a:cxnLst/>
              <a:rect r="r" b="b" t="t" l="l"/>
              <a:pathLst>
                <a:path h="246380" w="1084834">
                  <a:moveTo>
                    <a:pt x="1084834" y="37590"/>
                  </a:moveTo>
                  <a:lnTo>
                    <a:pt x="1084834" y="208790"/>
                  </a:lnTo>
                  <a:cubicBezTo>
                    <a:pt x="1084834" y="229550"/>
                    <a:pt x="1068004" y="246380"/>
                    <a:pt x="1047244" y="246380"/>
                  </a:cubicBezTo>
                  <a:lnTo>
                    <a:pt x="37590" y="246380"/>
                  </a:lnTo>
                  <a:cubicBezTo>
                    <a:pt x="16830" y="246380"/>
                    <a:pt x="0" y="229550"/>
                    <a:pt x="0" y="208790"/>
                  </a:cubicBezTo>
                  <a:lnTo>
                    <a:pt x="0" y="37590"/>
                  </a:lnTo>
                  <a:cubicBezTo>
                    <a:pt x="0" y="16830"/>
                    <a:pt x="16830" y="0"/>
                    <a:pt x="37590" y="0"/>
                  </a:cubicBezTo>
                  <a:lnTo>
                    <a:pt x="1047244" y="0"/>
                  </a:lnTo>
                  <a:cubicBezTo>
                    <a:pt x="1068004" y="0"/>
                    <a:pt x="1084834" y="16830"/>
                    <a:pt x="1084834" y="37590"/>
                  </a:cubicBezTo>
                  <a:close/>
                </a:path>
              </a:pathLst>
            </a:custGeom>
            <a:solidFill>
              <a:srgbClr val="649DE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84834" cy="265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76214" y="7507799"/>
            <a:ext cx="4119145" cy="935355"/>
            <a:chOff x="0" y="0"/>
            <a:chExt cx="1084834" cy="2463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4834" cy="246380"/>
            </a:xfrm>
            <a:custGeom>
              <a:avLst/>
              <a:gdLst/>
              <a:ahLst/>
              <a:cxnLst/>
              <a:rect r="r" b="b" t="t" l="l"/>
              <a:pathLst>
                <a:path h="246380" w="1084834">
                  <a:moveTo>
                    <a:pt x="1084834" y="37590"/>
                  </a:moveTo>
                  <a:lnTo>
                    <a:pt x="1084834" y="208790"/>
                  </a:lnTo>
                  <a:cubicBezTo>
                    <a:pt x="1084834" y="229550"/>
                    <a:pt x="1068004" y="246380"/>
                    <a:pt x="1047244" y="246380"/>
                  </a:cubicBezTo>
                  <a:lnTo>
                    <a:pt x="37590" y="246380"/>
                  </a:lnTo>
                  <a:cubicBezTo>
                    <a:pt x="16830" y="246380"/>
                    <a:pt x="0" y="229550"/>
                    <a:pt x="0" y="208790"/>
                  </a:cubicBezTo>
                  <a:lnTo>
                    <a:pt x="0" y="37590"/>
                  </a:lnTo>
                  <a:cubicBezTo>
                    <a:pt x="0" y="16830"/>
                    <a:pt x="16830" y="0"/>
                    <a:pt x="37590" y="0"/>
                  </a:cubicBezTo>
                  <a:lnTo>
                    <a:pt x="1047244" y="0"/>
                  </a:lnTo>
                  <a:cubicBezTo>
                    <a:pt x="1068004" y="0"/>
                    <a:pt x="1084834" y="16830"/>
                    <a:pt x="1084834" y="37590"/>
                  </a:cubicBezTo>
                  <a:close/>
                </a:path>
              </a:pathLst>
            </a:custGeom>
            <a:solidFill>
              <a:srgbClr val="649DE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84834" cy="265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89932" y="7507799"/>
            <a:ext cx="4119145" cy="935355"/>
            <a:chOff x="0" y="0"/>
            <a:chExt cx="1084834" cy="2463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4834" cy="246380"/>
            </a:xfrm>
            <a:custGeom>
              <a:avLst/>
              <a:gdLst/>
              <a:ahLst/>
              <a:cxnLst/>
              <a:rect r="r" b="b" t="t" l="l"/>
              <a:pathLst>
                <a:path h="246380" w="1084834">
                  <a:moveTo>
                    <a:pt x="1084834" y="37590"/>
                  </a:moveTo>
                  <a:lnTo>
                    <a:pt x="1084834" y="208790"/>
                  </a:lnTo>
                  <a:cubicBezTo>
                    <a:pt x="1084834" y="229550"/>
                    <a:pt x="1068004" y="246380"/>
                    <a:pt x="1047244" y="246380"/>
                  </a:cubicBezTo>
                  <a:lnTo>
                    <a:pt x="37590" y="246380"/>
                  </a:lnTo>
                  <a:cubicBezTo>
                    <a:pt x="16830" y="246380"/>
                    <a:pt x="0" y="229550"/>
                    <a:pt x="0" y="208790"/>
                  </a:cubicBezTo>
                  <a:lnTo>
                    <a:pt x="0" y="37590"/>
                  </a:lnTo>
                  <a:cubicBezTo>
                    <a:pt x="0" y="16830"/>
                    <a:pt x="16830" y="0"/>
                    <a:pt x="37590" y="0"/>
                  </a:cubicBezTo>
                  <a:lnTo>
                    <a:pt x="1047244" y="0"/>
                  </a:lnTo>
                  <a:cubicBezTo>
                    <a:pt x="1068004" y="0"/>
                    <a:pt x="1084834" y="16830"/>
                    <a:pt x="1084834" y="37590"/>
                  </a:cubicBezTo>
                  <a:close/>
                </a:path>
              </a:pathLst>
            </a:custGeom>
            <a:solidFill>
              <a:srgbClr val="649DE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84834" cy="265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36478" y="4557921"/>
            <a:ext cx="4117150" cy="565176"/>
            <a:chOff x="0" y="0"/>
            <a:chExt cx="1084352" cy="1488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4352" cy="148853"/>
            </a:xfrm>
            <a:custGeom>
              <a:avLst/>
              <a:gdLst/>
              <a:ahLst/>
              <a:cxnLst/>
              <a:rect r="r" b="b" t="t" l="l"/>
              <a:pathLst>
                <a:path h="148853" w="1084352">
                  <a:moveTo>
                    <a:pt x="74426" y="0"/>
                  </a:moveTo>
                  <a:lnTo>
                    <a:pt x="1009926" y="0"/>
                  </a:lnTo>
                  <a:cubicBezTo>
                    <a:pt x="1029665" y="0"/>
                    <a:pt x="1048596" y="7841"/>
                    <a:pt x="1062553" y="21799"/>
                  </a:cubicBezTo>
                  <a:cubicBezTo>
                    <a:pt x="1076511" y="35757"/>
                    <a:pt x="1084352" y="54687"/>
                    <a:pt x="1084352" y="74426"/>
                  </a:cubicBezTo>
                  <a:lnTo>
                    <a:pt x="1084352" y="74426"/>
                  </a:lnTo>
                  <a:cubicBezTo>
                    <a:pt x="1084352" y="115531"/>
                    <a:pt x="1051030" y="148853"/>
                    <a:pt x="1009926" y="148853"/>
                  </a:cubicBezTo>
                  <a:lnTo>
                    <a:pt x="74426" y="148853"/>
                  </a:lnTo>
                  <a:cubicBezTo>
                    <a:pt x="33322" y="148853"/>
                    <a:pt x="0" y="115531"/>
                    <a:pt x="0" y="74426"/>
                  </a:cubicBezTo>
                  <a:lnTo>
                    <a:pt x="0" y="74426"/>
                  </a:lnTo>
                  <a:cubicBezTo>
                    <a:pt x="0" y="33322"/>
                    <a:pt x="33322" y="0"/>
                    <a:pt x="74426" y="0"/>
                  </a:cubicBezTo>
                  <a:close/>
                </a:path>
              </a:pathLst>
            </a:custGeom>
            <a:solidFill>
              <a:srgbClr val="99C5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84352" cy="15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 spc="-17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PostGIS + 10-Factor Scoring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076214" y="5335641"/>
            <a:ext cx="4117150" cy="879501"/>
            <a:chOff x="0" y="0"/>
            <a:chExt cx="1084352" cy="2316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4352" cy="231638"/>
            </a:xfrm>
            <a:custGeom>
              <a:avLst/>
              <a:gdLst/>
              <a:ahLst/>
              <a:cxnLst/>
              <a:rect r="r" b="b" t="t" l="l"/>
              <a:pathLst>
                <a:path h="231638" w="1084352">
                  <a:moveTo>
                    <a:pt x="95901" y="0"/>
                  </a:moveTo>
                  <a:lnTo>
                    <a:pt x="988452" y="0"/>
                  </a:lnTo>
                  <a:cubicBezTo>
                    <a:pt x="1013886" y="0"/>
                    <a:pt x="1038279" y="10104"/>
                    <a:pt x="1056264" y="28089"/>
                  </a:cubicBezTo>
                  <a:cubicBezTo>
                    <a:pt x="1074248" y="46074"/>
                    <a:pt x="1084352" y="70466"/>
                    <a:pt x="1084352" y="95901"/>
                  </a:cubicBezTo>
                  <a:lnTo>
                    <a:pt x="1084352" y="135737"/>
                  </a:lnTo>
                  <a:cubicBezTo>
                    <a:pt x="1084352" y="161172"/>
                    <a:pt x="1074248" y="185565"/>
                    <a:pt x="1056264" y="203549"/>
                  </a:cubicBezTo>
                  <a:cubicBezTo>
                    <a:pt x="1038279" y="221534"/>
                    <a:pt x="1013886" y="231638"/>
                    <a:pt x="988452" y="231638"/>
                  </a:cubicBezTo>
                  <a:lnTo>
                    <a:pt x="95901" y="231638"/>
                  </a:lnTo>
                  <a:cubicBezTo>
                    <a:pt x="70466" y="231638"/>
                    <a:pt x="46074" y="221534"/>
                    <a:pt x="28089" y="203549"/>
                  </a:cubicBezTo>
                  <a:cubicBezTo>
                    <a:pt x="10104" y="185565"/>
                    <a:pt x="0" y="161172"/>
                    <a:pt x="0" y="135737"/>
                  </a:cubicBezTo>
                  <a:lnTo>
                    <a:pt x="0" y="95901"/>
                  </a:lnTo>
                  <a:cubicBezTo>
                    <a:pt x="0" y="70466"/>
                    <a:pt x="10104" y="46074"/>
                    <a:pt x="28089" y="28089"/>
                  </a:cubicBezTo>
                  <a:cubicBezTo>
                    <a:pt x="46074" y="10104"/>
                    <a:pt x="70466" y="0"/>
                    <a:pt x="95901" y="0"/>
                  </a:cubicBezTo>
                  <a:close/>
                </a:path>
              </a:pathLst>
            </a:custGeom>
            <a:solidFill>
              <a:srgbClr val="99C5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84352" cy="241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 spc="-17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Top-K Deterministic Extraction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59120" y="6505608"/>
            <a:ext cx="4117150" cy="565176"/>
            <a:chOff x="0" y="0"/>
            <a:chExt cx="1084352" cy="1488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4352" cy="148853"/>
            </a:xfrm>
            <a:custGeom>
              <a:avLst/>
              <a:gdLst/>
              <a:ahLst/>
              <a:cxnLst/>
              <a:rect r="r" b="b" t="t" l="l"/>
              <a:pathLst>
                <a:path h="148853" w="1084352">
                  <a:moveTo>
                    <a:pt x="74426" y="0"/>
                  </a:moveTo>
                  <a:lnTo>
                    <a:pt x="1009926" y="0"/>
                  </a:lnTo>
                  <a:cubicBezTo>
                    <a:pt x="1029665" y="0"/>
                    <a:pt x="1048596" y="7841"/>
                    <a:pt x="1062553" y="21799"/>
                  </a:cubicBezTo>
                  <a:cubicBezTo>
                    <a:pt x="1076511" y="35757"/>
                    <a:pt x="1084352" y="54687"/>
                    <a:pt x="1084352" y="74426"/>
                  </a:cubicBezTo>
                  <a:lnTo>
                    <a:pt x="1084352" y="74426"/>
                  </a:lnTo>
                  <a:cubicBezTo>
                    <a:pt x="1084352" y="115531"/>
                    <a:pt x="1051030" y="148853"/>
                    <a:pt x="1009926" y="148853"/>
                  </a:cubicBezTo>
                  <a:lnTo>
                    <a:pt x="74426" y="148853"/>
                  </a:lnTo>
                  <a:cubicBezTo>
                    <a:pt x="33322" y="148853"/>
                    <a:pt x="0" y="115531"/>
                    <a:pt x="0" y="74426"/>
                  </a:cubicBezTo>
                  <a:lnTo>
                    <a:pt x="0" y="74426"/>
                  </a:lnTo>
                  <a:cubicBezTo>
                    <a:pt x="0" y="33322"/>
                    <a:pt x="33322" y="0"/>
                    <a:pt x="74426" y="0"/>
                  </a:cubicBezTo>
                  <a:close/>
                </a:path>
              </a:pathLst>
            </a:custGeom>
            <a:solidFill>
              <a:srgbClr val="99C5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84352" cy="15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 spc="-17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LLM Explainable Phrasing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2435" y="6154767"/>
            <a:ext cx="4114784" cy="853949"/>
            <a:chOff x="0" y="0"/>
            <a:chExt cx="1083729" cy="2249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3729" cy="224908"/>
            </a:xfrm>
            <a:custGeom>
              <a:avLst/>
              <a:gdLst/>
              <a:ahLst/>
              <a:cxnLst/>
              <a:rect r="r" b="b" t="t" l="l"/>
              <a:pathLst>
                <a:path h="224908" w="1083729">
                  <a:moveTo>
                    <a:pt x="31985" y="0"/>
                  </a:moveTo>
                  <a:lnTo>
                    <a:pt x="1051744" y="0"/>
                  </a:lnTo>
                  <a:cubicBezTo>
                    <a:pt x="1069409" y="0"/>
                    <a:pt x="1083729" y="14320"/>
                    <a:pt x="1083729" y="31985"/>
                  </a:cubicBezTo>
                  <a:lnTo>
                    <a:pt x="1083729" y="192923"/>
                  </a:lnTo>
                  <a:cubicBezTo>
                    <a:pt x="1083729" y="210588"/>
                    <a:pt x="1069409" y="224908"/>
                    <a:pt x="1051744" y="224908"/>
                  </a:cubicBezTo>
                  <a:lnTo>
                    <a:pt x="31985" y="224908"/>
                  </a:lnTo>
                  <a:cubicBezTo>
                    <a:pt x="14320" y="224908"/>
                    <a:pt x="0" y="210588"/>
                    <a:pt x="0" y="192923"/>
                  </a:cubicBezTo>
                  <a:lnTo>
                    <a:pt x="0" y="31985"/>
                  </a:lnTo>
                  <a:cubicBezTo>
                    <a:pt x="0" y="14320"/>
                    <a:pt x="14320" y="0"/>
                    <a:pt x="31985" y="0"/>
                  </a:cubicBezTo>
                  <a:close/>
                </a:path>
              </a:pathLst>
            </a:custGeom>
            <a:solidFill>
              <a:srgbClr val="99C5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83729" cy="243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 spc="-16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Colaba → Bandra → Colaba ❌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 spc="-16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Colaba → Bandra → Juhu ✅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98039" y="3222232"/>
            <a:ext cx="4891921" cy="468913"/>
            <a:chOff x="0" y="0"/>
            <a:chExt cx="1288407" cy="123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8407" cy="123500"/>
            </a:xfrm>
            <a:custGeom>
              <a:avLst/>
              <a:gdLst/>
              <a:ahLst/>
              <a:cxnLst/>
              <a:rect r="r" b="b" t="t" l="l"/>
              <a:pathLst>
                <a:path h="123500" w="1288407">
                  <a:moveTo>
                    <a:pt x="26904" y="0"/>
                  </a:moveTo>
                  <a:lnTo>
                    <a:pt x="1261503" y="0"/>
                  </a:lnTo>
                  <a:cubicBezTo>
                    <a:pt x="1268639" y="0"/>
                    <a:pt x="1275482" y="2835"/>
                    <a:pt x="1280527" y="7880"/>
                  </a:cubicBezTo>
                  <a:cubicBezTo>
                    <a:pt x="1285573" y="12926"/>
                    <a:pt x="1288407" y="19769"/>
                    <a:pt x="1288407" y="26904"/>
                  </a:cubicBezTo>
                  <a:lnTo>
                    <a:pt x="1288407" y="96596"/>
                  </a:lnTo>
                  <a:cubicBezTo>
                    <a:pt x="1288407" y="111454"/>
                    <a:pt x="1276362" y="123500"/>
                    <a:pt x="1261503" y="123500"/>
                  </a:cubicBezTo>
                  <a:lnTo>
                    <a:pt x="26904" y="123500"/>
                  </a:lnTo>
                  <a:cubicBezTo>
                    <a:pt x="12045" y="123500"/>
                    <a:pt x="0" y="111454"/>
                    <a:pt x="0" y="96596"/>
                  </a:cubicBezTo>
                  <a:lnTo>
                    <a:pt x="0" y="26904"/>
                  </a:lnTo>
                  <a:cubicBezTo>
                    <a:pt x="0" y="12045"/>
                    <a:pt x="12045" y="0"/>
                    <a:pt x="26904" y="0"/>
                  </a:cubicBezTo>
                  <a:close/>
                </a:path>
              </a:pathLst>
            </a:custGeom>
            <a:solidFill>
              <a:srgbClr val="99C5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288407" cy="14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796192" y="3254389"/>
            <a:ext cx="4518122" cy="436757"/>
            <a:chOff x="0" y="0"/>
            <a:chExt cx="1189958" cy="1150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89958" cy="115031"/>
            </a:xfrm>
            <a:custGeom>
              <a:avLst/>
              <a:gdLst/>
              <a:ahLst/>
              <a:cxnLst/>
              <a:rect r="r" b="b" t="t" l="l"/>
              <a:pathLst>
                <a:path h="115031" w="1189958">
                  <a:moveTo>
                    <a:pt x="29130" y="0"/>
                  </a:moveTo>
                  <a:lnTo>
                    <a:pt x="1160828" y="0"/>
                  </a:lnTo>
                  <a:cubicBezTo>
                    <a:pt x="1168554" y="0"/>
                    <a:pt x="1175963" y="3069"/>
                    <a:pt x="1181426" y="8532"/>
                  </a:cubicBezTo>
                  <a:cubicBezTo>
                    <a:pt x="1186889" y="13995"/>
                    <a:pt x="1189958" y="21404"/>
                    <a:pt x="1189958" y="29130"/>
                  </a:cubicBezTo>
                  <a:lnTo>
                    <a:pt x="1189958" y="85901"/>
                  </a:lnTo>
                  <a:cubicBezTo>
                    <a:pt x="1189958" y="93626"/>
                    <a:pt x="1186889" y="101036"/>
                    <a:pt x="1181426" y="106499"/>
                  </a:cubicBezTo>
                  <a:cubicBezTo>
                    <a:pt x="1175963" y="111962"/>
                    <a:pt x="1168554" y="115031"/>
                    <a:pt x="1160828" y="115031"/>
                  </a:cubicBezTo>
                  <a:lnTo>
                    <a:pt x="29130" y="115031"/>
                  </a:lnTo>
                  <a:cubicBezTo>
                    <a:pt x="21404" y="115031"/>
                    <a:pt x="13995" y="111962"/>
                    <a:pt x="8532" y="106499"/>
                  </a:cubicBezTo>
                  <a:cubicBezTo>
                    <a:pt x="3069" y="101036"/>
                    <a:pt x="0" y="93626"/>
                    <a:pt x="0" y="85901"/>
                  </a:cubicBezTo>
                  <a:lnTo>
                    <a:pt x="0" y="29130"/>
                  </a:lnTo>
                  <a:cubicBezTo>
                    <a:pt x="0" y="21404"/>
                    <a:pt x="3069" y="13995"/>
                    <a:pt x="8532" y="8532"/>
                  </a:cubicBezTo>
                  <a:cubicBezTo>
                    <a:pt x="13995" y="3069"/>
                    <a:pt x="21404" y="0"/>
                    <a:pt x="29130" y="0"/>
                  </a:cubicBezTo>
                  <a:close/>
                </a:path>
              </a:pathLst>
            </a:custGeom>
            <a:solidFill>
              <a:srgbClr val="99C5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189958" cy="134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263039" y="2478233"/>
            <a:ext cx="4326922" cy="3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5"/>
              </a:lnSpc>
              <a:spcBef>
                <a:spcPct val="0"/>
              </a:spcBef>
            </a:pPr>
            <a:r>
              <a:rPr lang="en-US" b="true" sz="2429" spc="-2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Deterministic AI Architecture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433883" y="2184292"/>
            <a:ext cx="974116" cy="975331"/>
          </a:xfrm>
          <a:custGeom>
            <a:avLst/>
            <a:gdLst/>
            <a:ahLst/>
            <a:cxnLst/>
            <a:rect r="r" b="b" t="t" l="l"/>
            <a:pathLst>
              <a:path h="975331" w="974116">
                <a:moveTo>
                  <a:pt x="0" y="0"/>
                </a:moveTo>
                <a:lnTo>
                  <a:pt x="974116" y="0"/>
                </a:lnTo>
                <a:lnTo>
                  <a:pt x="974116" y="975331"/>
                </a:lnTo>
                <a:lnTo>
                  <a:pt x="0" y="975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" t="0" r="-62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555861" y="2041921"/>
            <a:ext cx="1212468" cy="1212468"/>
          </a:xfrm>
          <a:custGeom>
            <a:avLst/>
            <a:gdLst/>
            <a:ahLst/>
            <a:cxnLst/>
            <a:rect r="r" b="b" t="t" l="l"/>
            <a:pathLst>
              <a:path h="1212468" w="1212468">
                <a:moveTo>
                  <a:pt x="0" y="0"/>
                </a:moveTo>
                <a:lnTo>
                  <a:pt x="1212468" y="0"/>
                </a:lnTo>
                <a:lnTo>
                  <a:pt x="1212468" y="1212468"/>
                </a:lnTo>
                <a:lnTo>
                  <a:pt x="0" y="1212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101960" y="4557921"/>
            <a:ext cx="4105259" cy="482017"/>
            <a:chOff x="0" y="0"/>
            <a:chExt cx="1081221" cy="1269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1221" cy="126951"/>
            </a:xfrm>
            <a:custGeom>
              <a:avLst/>
              <a:gdLst/>
              <a:ahLst/>
              <a:cxnLst/>
              <a:rect r="r" b="b" t="t" l="l"/>
              <a:pathLst>
                <a:path h="126951" w="1081221">
                  <a:moveTo>
                    <a:pt x="0" y="0"/>
                  </a:moveTo>
                  <a:lnTo>
                    <a:pt x="1081221" y="0"/>
                  </a:lnTo>
                  <a:lnTo>
                    <a:pt x="1081221" y="126951"/>
                  </a:lnTo>
                  <a:lnTo>
                    <a:pt x="0" y="126951"/>
                  </a:lnTo>
                  <a:close/>
                </a:path>
              </a:pathLst>
            </a:custGeom>
            <a:solidFill>
              <a:srgbClr val="99C5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81221" cy="13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b="true" sz="1700" spc="-14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Haversine + Compass Bearing (Δθ)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5353" y="5163763"/>
            <a:ext cx="4091867" cy="813606"/>
            <a:chOff x="0" y="0"/>
            <a:chExt cx="1077693" cy="2142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7693" cy="214283"/>
            </a:xfrm>
            <a:custGeom>
              <a:avLst/>
              <a:gdLst/>
              <a:ahLst/>
              <a:cxnLst/>
              <a:rect r="r" b="b" t="t" l="l"/>
              <a:pathLst>
                <a:path h="214283" w="1077693">
                  <a:moveTo>
                    <a:pt x="32164" y="0"/>
                  </a:moveTo>
                  <a:lnTo>
                    <a:pt x="1045529" y="0"/>
                  </a:lnTo>
                  <a:cubicBezTo>
                    <a:pt x="1054059" y="0"/>
                    <a:pt x="1062241" y="3389"/>
                    <a:pt x="1068273" y="9421"/>
                  </a:cubicBezTo>
                  <a:cubicBezTo>
                    <a:pt x="1074305" y="15453"/>
                    <a:pt x="1077693" y="23634"/>
                    <a:pt x="1077693" y="32164"/>
                  </a:cubicBezTo>
                  <a:lnTo>
                    <a:pt x="1077693" y="182119"/>
                  </a:lnTo>
                  <a:cubicBezTo>
                    <a:pt x="1077693" y="199882"/>
                    <a:pt x="1063293" y="214283"/>
                    <a:pt x="1045529" y="214283"/>
                  </a:cubicBezTo>
                  <a:lnTo>
                    <a:pt x="32164" y="214283"/>
                  </a:lnTo>
                  <a:cubicBezTo>
                    <a:pt x="23634" y="214283"/>
                    <a:pt x="15453" y="210894"/>
                    <a:pt x="9421" y="204862"/>
                  </a:cubicBezTo>
                  <a:cubicBezTo>
                    <a:pt x="3389" y="198830"/>
                    <a:pt x="0" y="190649"/>
                    <a:pt x="0" y="182119"/>
                  </a:cubicBezTo>
                  <a:lnTo>
                    <a:pt x="0" y="32164"/>
                  </a:lnTo>
                  <a:cubicBezTo>
                    <a:pt x="0" y="23634"/>
                    <a:pt x="3389" y="15453"/>
                    <a:pt x="9421" y="9421"/>
                  </a:cubicBezTo>
                  <a:cubicBezTo>
                    <a:pt x="15453" y="3389"/>
                    <a:pt x="23634" y="0"/>
                    <a:pt x="32164" y="0"/>
                  </a:cubicBezTo>
                  <a:close/>
                </a:path>
              </a:pathLst>
            </a:custGeom>
            <a:solidFill>
              <a:srgbClr val="99C5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77693" cy="214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b="true" sz="2200" spc="-17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Continuity=1−Δθ/180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9095053" y="5123097"/>
            <a:ext cx="1342" cy="2131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1" id="51"/>
          <p:cNvSpPr/>
          <p:nvPr/>
        </p:nvSpPr>
        <p:spPr>
          <a:xfrm>
            <a:off x="9112403" y="6203362"/>
            <a:ext cx="3337" cy="3022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12989932" y="4816255"/>
            <a:ext cx="4119145" cy="1555440"/>
            <a:chOff x="0" y="0"/>
            <a:chExt cx="1084878" cy="4096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84878" cy="409663"/>
            </a:xfrm>
            <a:custGeom>
              <a:avLst/>
              <a:gdLst/>
              <a:ahLst/>
              <a:cxnLst/>
              <a:rect r="r" b="b" t="t" l="l"/>
              <a:pathLst>
                <a:path h="409663" w="1084878">
                  <a:moveTo>
                    <a:pt x="71421" y="0"/>
                  </a:moveTo>
                  <a:lnTo>
                    <a:pt x="1013457" y="0"/>
                  </a:lnTo>
                  <a:cubicBezTo>
                    <a:pt x="1032399" y="0"/>
                    <a:pt x="1050565" y="7525"/>
                    <a:pt x="1063959" y="20919"/>
                  </a:cubicBezTo>
                  <a:cubicBezTo>
                    <a:pt x="1077353" y="34313"/>
                    <a:pt x="1084878" y="52479"/>
                    <a:pt x="1084878" y="71421"/>
                  </a:cubicBezTo>
                  <a:lnTo>
                    <a:pt x="1084878" y="338242"/>
                  </a:lnTo>
                  <a:cubicBezTo>
                    <a:pt x="1084878" y="357184"/>
                    <a:pt x="1077353" y="375351"/>
                    <a:pt x="1063959" y="388745"/>
                  </a:cubicBezTo>
                  <a:cubicBezTo>
                    <a:pt x="1050565" y="402139"/>
                    <a:pt x="1032399" y="409663"/>
                    <a:pt x="1013457" y="409663"/>
                  </a:cubicBezTo>
                  <a:lnTo>
                    <a:pt x="71421" y="409663"/>
                  </a:lnTo>
                  <a:cubicBezTo>
                    <a:pt x="52479" y="409663"/>
                    <a:pt x="34313" y="402139"/>
                    <a:pt x="20919" y="388745"/>
                  </a:cubicBezTo>
                  <a:cubicBezTo>
                    <a:pt x="7525" y="375351"/>
                    <a:pt x="0" y="357184"/>
                    <a:pt x="0" y="338242"/>
                  </a:cubicBezTo>
                  <a:lnTo>
                    <a:pt x="0" y="71421"/>
                  </a:lnTo>
                  <a:cubicBezTo>
                    <a:pt x="0" y="52479"/>
                    <a:pt x="7525" y="34313"/>
                    <a:pt x="20919" y="20919"/>
                  </a:cubicBezTo>
                  <a:cubicBezTo>
                    <a:pt x="34313" y="7525"/>
                    <a:pt x="52479" y="0"/>
                    <a:pt x="71421" y="0"/>
                  </a:cubicBezTo>
                  <a:close/>
                </a:path>
              </a:pathLst>
            </a:custGeom>
            <a:solidFill>
              <a:srgbClr val="99C5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084878" cy="428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33047" y="2184292"/>
            <a:ext cx="974112" cy="975331"/>
          </a:xfrm>
          <a:custGeom>
            <a:avLst/>
            <a:gdLst/>
            <a:ahLst/>
            <a:cxnLst/>
            <a:rect r="r" b="b" t="t" l="l"/>
            <a:pathLst>
              <a:path h="975331" w="974112">
                <a:moveTo>
                  <a:pt x="0" y="0"/>
                </a:moveTo>
                <a:lnTo>
                  <a:pt x="974112" y="0"/>
                </a:lnTo>
                <a:lnTo>
                  <a:pt x="974112" y="975331"/>
                </a:lnTo>
                <a:lnTo>
                  <a:pt x="0" y="975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0" y="76200"/>
            <a:ext cx="18288000" cy="1508521"/>
            <a:chOff x="0" y="0"/>
            <a:chExt cx="4816593" cy="3973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16592" cy="397306"/>
            </a:xfrm>
            <a:custGeom>
              <a:avLst/>
              <a:gdLst/>
              <a:ahLst/>
              <a:cxnLst/>
              <a:rect r="r" b="b" t="t" l="l"/>
              <a:pathLst>
                <a:path h="3973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306"/>
                  </a:lnTo>
                  <a:lnTo>
                    <a:pt x="0" y="397306"/>
                  </a:lnTo>
                  <a:close/>
                </a:path>
              </a:pathLst>
            </a:custGeom>
            <a:solidFill>
              <a:srgbClr val="E4EBF7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4816593" cy="416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456532" y="8697409"/>
            <a:ext cx="5196273" cy="1436776"/>
            <a:chOff x="0" y="0"/>
            <a:chExt cx="1368566" cy="3784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68566" cy="378410"/>
            </a:xfrm>
            <a:custGeom>
              <a:avLst/>
              <a:gdLst/>
              <a:ahLst/>
              <a:cxnLst/>
              <a:rect r="r" b="b" t="t" l="l"/>
              <a:pathLst>
                <a:path h="378410" w="1368566">
                  <a:moveTo>
                    <a:pt x="56616" y="0"/>
                  </a:moveTo>
                  <a:lnTo>
                    <a:pt x="1311950" y="0"/>
                  </a:lnTo>
                  <a:cubicBezTo>
                    <a:pt x="1343218" y="0"/>
                    <a:pt x="1368566" y="25348"/>
                    <a:pt x="1368566" y="56616"/>
                  </a:cubicBezTo>
                  <a:lnTo>
                    <a:pt x="1368566" y="321794"/>
                  </a:lnTo>
                  <a:cubicBezTo>
                    <a:pt x="1368566" y="353062"/>
                    <a:pt x="1343218" y="378410"/>
                    <a:pt x="1311950" y="378410"/>
                  </a:cubicBezTo>
                  <a:lnTo>
                    <a:pt x="56616" y="378410"/>
                  </a:lnTo>
                  <a:cubicBezTo>
                    <a:pt x="41601" y="378410"/>
                    <a:pt x="27200" y="372445"/>
                    <a:pt x="16582" y="361828"/>
                  </a:cubicBezTo>
                  <a:cubicBezTo>
                    <a:pt x="5965" y="351210"/>
                    <a:pt x="0" y="336810"/>
                    <a:pt x="0" y="321794"/>
                  </a:cubicBezTo>
                  <a:lnTo>
                    <a:pt x="0" y="56616"/>
                  </a:lnTo>
                  <a:cubicBezTo>
                    <a:pt x="0" y="41601"/>
                    <a:pt x="5965" y="27200"/>
                    <a:pt x="16582" y="16582"/>
                  </a:cubicBezTo>
                  <a:cubicBezTo>
                    <a:pt x="27200" y="5965"/>
                    <a:pt x="41601" y="0"/>
                    <a:pt x="56616" y="0"/>
                  </a:cubicBezTo>
                  <a:close/>
                </a:path>
              </a:pathLst>
            </a:custGeom>
            <a:solidFill>
              <a:srgbClr val="BFD2F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368566" cy="387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b="true" sz="2599" spc="-21">
                  <a:solidFill>
                    <a:srgbClr val="000000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“AI doesn't decide where you go. Mathematics does. AI only explains why.”</a:t>
              </a:r>
            </a:p>
          </p:txBody>
        </p:sp>
      </p:grpSp>
      <p:sp>
        <p:nvSpPr>
          <p:cNvPr name="TextBox 62" id="62" descr="$PPTXTitle"/>
          <p:cNvSpPr txBox="true"/>
          <p:nvPr/>
        </p:nvSpPr>
        <p:spPr>
          <a:xfrm rot="0">
            <a:off x="4124384" y="13096"/>
            <a:ext cx="9355098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270">
                <a:solidFill>
                  <a:srgbClr val="394876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WHY WE ARE DIFFERENT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13479482" y="2476690"/>
            <a:ext cx="412052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b="true" sz="2379" spc="-1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Privacy-First local Discovery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20114" y="2452893"/>
            <a:ext cx="43828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2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Anti-BackTrack Intelligence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88075" y="7579668"/>
            <a:ext cx="411914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1.0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88075" y="8046393"/>
            <a:ext cx="411478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9" spc="-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ROUTE CONTINUITY SCORE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145493" y="8046393"/>
            <a:ext cx="397859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  <a:spcBef>
                <a:spcPct val="0"/>
              </a:spcBef>
            </a:pPr>
            <a:r>
              <a:rPr lang="en-US" b="true" sz="1850" spc="-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DETERMINISTIC RANKING LATENCY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084427" y="7579668"/>
            <a:ext cx="411914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&lt;5Oms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538647" y="3290002"/>
            <a:ext cx="519627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ZERO HALLUCINATION RANKING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37805" y="3222232"/>
            <a:ext cx="519627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spc="-1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Generic Planner Fails spatial Efficiency.We Eliminate zig-zag navigation via  vector math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053049" y="3306080"/>
            <a:ext cx="400323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DPDP ACT 2023 COMPLAINT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498259" y="3691146"/>
            <a:ext cx="519627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b="true" sz="1900" spc="-15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Ranking is a math problem, not an LLM guess. Our engine separates logic from language.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456532" y="3687080"/>
            <a:ext cx="518997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Eliminating the trade-off between personalization and privacy via spatial hashing.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989932" y="8046393"/>
            <a:ext cx="411914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9" spc="-1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COMPLIANCE INTEGRITY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511911" y="7579668"/>
            <a:ext cx="108668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100%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810734" y="6524096"/>
            <a:ext cx="451812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No Persistent GPS Tracking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2100" spc="-1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</a:t>
            </a:r>
            <a:r>
              <a:rPr lang="en-US" sz="2100" spc="-1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oarse Recommendation Shield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37805" y="9008514"/>
            <a:ext cx="117825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 spc="-2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OUR UNFAIR ADVANTAGE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spc="-2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Spatial Intelligence + Route Continuity + Explainable AI + Privacy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989932" y="4869592"/>
            <a:ext cx="41191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Spatial Transformation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989932" y="5283057"/>
            <a:ext cx="41191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Raw GPS Coordinates   ❌ 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010222" y="5826101"/>
            <a:ext cx="41191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~500m Spatial Hash       ✅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451368" y="5473676"/>
            <a:ext cx="519627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↓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0" y="1007327"/>
            <a:ext cx="1823539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 spc="-21">
                <a:solidFill>
                  <a:srgbClr val="394876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Not another travel app. A deterministic intelligence layer engineered for spatial logic and verifiable trust.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042531" y="1738271"/>
            <a:ext cx="217729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23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PILLAR 01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055352" y="1776371"/>
            <a:ext cx="217729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23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PILLAR 02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960857" y="1738271"/>
            <a:ext cx="2177296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23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PILLAR 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4EBF7"/>
            </a:solid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388928" y="430530"/>
            <a:ext cx="6390002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8"/>
              </a:lnSpc>
            </a:pPr>
            <a:r>
              <a:rPr lang="en-US" b="true" sz="7640" spc="-560">
                <a:solidFill>
                  <a:srgbClr val="394876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Technical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31337" y="9760217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94876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88928" y="3173813"/>
            <a:ext cx="7309915" cy="873387"/>
            <a:chOff x="0" y="0"/>
            <a:chExt cx="1779154" cy="2125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9154" cy="212573"/>
            </a:xfrm>
            <a:custGeom>
              <a:avLst/>
              <a:gdLst/>
              <a:ahLst/>
              <a:cxnLst/>
              <a:rect r="r" b="b" t="t" l="l"/>
              <a:pathLst>
                <a:path h="212573" w="1779154">
                  <a:moveTo>
                    <a:pt x="0" y="0"/>
                  </a:moveTo>
                  <a:lnTo>
                    <a:pt x="1779154" y="0"/>
                  </a:lnTo>
                  <a:lnTo>
                    <a:pt x="1779154" y="212573"/>
                  </a:lnTo>
                  <a:lnTo>
                    <a:pt x="0" y="2125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779154" cy="231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8928" y="4010314"/>
            <a:ext cx="7309915" cy="836501"/>
            <a:chOff x="0" y="0"/>
            <a:chExt cx="1779154" cy="2035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9154" cy="203595"/>
            </a:xfrm>
            <a:custGeom>
              <a:avLst/>
              <a:gdLst/>
              <a:ahLst/>
              <a:cxnLst/>
              <a:rect r="r" b="b" t="t" l="l"/>
              <a:pathLst>
                <a:path h="203595" w="1779154">
                  <a:moveTo>
                    <a:pt x="0" y="0"/>
                  </a:moveTo>
                  <a:lnTo>
                    <a:pt x="1779154" y="0"/>
                  </a:lnTo>
                  <a:lnTo>
                    <a:pt x="1779154" y="203595"/>
                  </a:lnTo>
                  <a:lnTo>
                    <a:pt x="0" y="203595"/>
                  </a:lnTo>
                  <a:close/>
                </a:path>
              </a:pathLst>
            </a:custGeom>
            <a:solidFill>
              <a:srgbClr val="EAF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779154" cy="22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8928" y="4846815"/>
            <a:ext cx="7309915" cy="836501"/>
            <a:chOff x="0" y="0"/>
            <a:chExt cx="1779154" cy="2035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9154" cy="203595"/>
            </a:xfrm>
            <a:custGeom>
              <a:avLst/>
              <a:gdLst/>
              <a:ahLst/>
              <a:cxnLst/>
              <a:rect r="r" b="b" t="t" l="l"/>
              <a:pathLst>
                <a:path h="203595" w="1779154">
                  <a:moveTo>
                    <a:pt x="0" y="0"/>
                  </a:moveTo>
                  <a:lnTo>
                    <a:pt x="1779154" y="0"/>
                  </a:lnTo>
                  <a:lnTo>
                    <a:pt x="1779154" y="203595"/>
                  </a:lnTo>
                  <a:lnTo>
                    <a:pt x="0" y="2035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779154" cy="22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8928" y="5683316"/>
            <a:ext cx="7309915" cy="836501"/>
            <a:chOff x="0" y="0"/>
            <a:chExt cx="1779154" cy="2035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9154" cy="203595"/>
            </a:xfrm>
            <a:custGeom>
              <a:avLst/>
              <a:gdLst/>
              <a:ahLst/>
              <a:cxnLst/>
              <a:rect r="r" b="b" t="t" l="l"/>
              <a:pathLst>
                <a:path h="203595" w="1779154">
                  <a:moveTo>
                    <a:pt x="0" y="0"/>
                  </a:moveTo>
                  <a:lnTo>
                    <a:pt x="1779154" y="0"/>
                  </a:lnTo>
                  <a:lnTo>
                    <a:pt x="1779154" y="203595"/>
                  </a:lnTo>
                  <a:lnTo>
                    <a:pt x="0" y="203595"/>
                  </a:lnTo>
                  <a:close/>
                </a:path>
              </a:pathLst>
            </a:custGeom>
            <a:solidFill>
              <a:srgbClr val="EAF0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79154" cy="22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8928" y="6519816"/>
            <a:ext cx="7309915" cy="836501"/>
            <a:chOff x="0" y="0"/>
            <a:chExt cx="1779154" cy="2035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79154" cy="203595"/>
            </a:xfrm>
            <a:custGeom>
              <a:avLst/>
              <a:gdLst/>
              <a:ahLst/>
              <a:cxnLst/>
              <a:rect r="r" b="b" t="t" l="l"/>
              <a:pathLst>
                <a:path h="203595" w="1779154">
                  <a:moveTo>
                    <a:pt x="0" y="0"/>
                  </a:moveTo>
                  <a:lnTo>
                    <a:pt x="1779154" y="0"/>
                  </a:lnTo>
                  <a:lnTo>
                    <a:pt x="1779154" y="203595"/>
                  </a:lnTo>
                  <a:lnTo>
                    <a:pt x="0" y="2035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779154" cy="22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8928" y="7356317"/>
            <a:ext cx="7309915" cy="836501"/>
            <a:chOff x="0" y="0"/>
            <a:chExt cx="1779154" cy="2035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79154" cy="203595"/>
            </a:xfrm>
            <a:custGeom>
              <a:avLst/>
              <a:gdLst/>
              <a:ahLst/>
              <a:cxnLst/>
              <a:rect r="r" b="b" t="t" l="l"/>
              <a:pathLst>
                <a:path h="203595" w="1779154">
                  <a:moveTo>
                    <a:pt x="0" y="0"/>
                  </a:moveTo>
                  <a:lnTo>
                    <a:pt x="1779154" y="0"/>
                  </a:lnTo>
                  <a:lnTo>
                    <a:pt x="1779154" y="203595"/>
                  </a:lnTo>
                  <a:lnTo>
                    <a:pt x="0" y="203595"/>
                  </a:lnTo>
                  <a:close/>
                </a:path>
              </a:pathLst>
            </a:custGeom>
            <a:solidFill>
              <a:srgbClr val="EAF0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779154" cy="22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8928" y="8192818"/>
            <a:ext cx="7309915" cy="836501"/>
            <a:chOff x="0" y="0"/>
            <a:chExt cx="1779154" cy="2035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79154" cy="203595"/>
            </a:xfrm>
            <a:custGeom>
              <a:avLst/>
              <a:gdLst/>
              <a:ahLst/>
              <a:cxnLst/>
              <a:rect r="r" b="b" t="t" l="l"/>
              <a:pathLst>
                <a:path h="203595" w="1779154">
                  <a:moveTo>
                    <a:pt x="0" y="0"/>
                  </a:moveTo>
                  <a:lnTo>
                    <a:pt x="1779154" y="0"/>
                  </a:lnTo>
                  <a:lnTo>
                    <a:pt x="1779154" y="203595"/>
                  </a:lnTo>
                  <a:lnTo>
                    <a:pt x="0" y="2035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779154" cy="22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88928" y="2664578"/>
            <a:ext cx="2477604" cy="39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b="true" sz="2619" spc="-21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TechStack: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3842" y="3360936"/>
            <a:ext cx="1876146" cy="45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b="true" sz="2935" spc="-24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Frontend: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3842" y="4197436"/>
            <a:ext cx="2986289" cy="45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b="true" sz="2935" spc="-24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Geospatial/3D: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3842" y="5033937"/>
            <a:ext cx="1876146" cy="45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b="true" sz="2935" spc="-24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Backend: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3842" y="5870438"/>
            <a:ext cx="2051796" cy="45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b="true" sz="2935" spc="-24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Database: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3842" y="6706939"/>
            <a:ext cx="1876146" cy="45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b="true" sz="2935" spc="-24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Cache: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53842" y="7543439"/>
            <a:ext cx="2051796" cy="45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b="true" sz="2935" spc="-24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XAI proxy: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3842" y="8379940"/>
            <a:ext cx="1876146" cy="45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b="true" sz="2935" spc="-24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Security: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46280" y="3235802"/>
            <a:ext cx="3672768" cy="6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  <a:spcBef>
                <a:spcPct val="0"/>
              </a:spcBef>
            </a:pPr>
            <a:r>
              <a:rPr lang="en-US" sz="2178" spc="-18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Next.js 14 (App Router), TS, Tailwind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46280" y="4089212"/>
            <a:ext cx="3447433" cy="6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  <a:spcBef>
                <a:spcPct val="0"/>
              </a:spcBef>
            </a:pPr>
            <a:r>
              <a:rPr lang="en-US" sz="2178" spc="-18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Leaflet, React-Leaflet, Three.js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46280" y="4884915"/>
            <a:ext cx="4313285" cy="6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  <a:spcBef>
                <a:spcPct val="0"/>
              </a:spcBef>
            </a:pPr>
            <a:r>
              <a:rPr lang="en-US" sz="2178" spc="-18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NestJS (Node/TS), Fastify adapter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846280" y="5796031"/>
            <a:ext cx="3852564" cy="6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  <a:spcBef>
                <a:spcPct val="0"/>
              </a:spcBef>
            </a:pPr>
            <a:r>
              <a:rPr lang="en-US" sz="2178" spc="-18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PostgreSQL 16 + PostGIS, Prisma ORM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846280" y="6611739"/>
            <a:ext cx="3852564" cy="6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  <a:spcBef>
                <a:spcPct val="0"/>
              </a:spcBef>
            </a:pPr>
            <a:r>
              <a:rPr lang="en-US" sz="2178" spc="-18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Redis 7 – rate limit, session, geo bounds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846280" y="7431332"/>
            <a:ext cx="3852564" cy="6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  <a:spcBef>
                <a:spcPct val="0"/>
              </a:spcBef>
            </a:pPr>
            <a:r>
              <a:rPr lang="en-US" sz="2178" spc="-18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Gemini – stateless, read-only phrasing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46280" y="8267833"/>
            <a:ext cx="3852564" cy="6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  <a:spcBef>
                <a:spcPct val="0"/>
              </a:spcBef>
            </a:pPr>
            <a:r>
              <a:rPr lang="en-US" sz="2178" spc="-18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Helmet CSP, Trusted Types, DOMPurify, Zod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148280" y="2925766"/>
            <a:ext cx="5009130" cy="1663388"/>
            <a:chOff x="0" y="0"/>
            <a:chExt cx="1082082" cy="3593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2082" cy="359329"/>
            </a:xfrm>
            <a:custGeom>
              <a:avLst/>
              <a:gdLst/>
              <a:ahLst/>
              <a:cxnLst/>
              <a:rect r="r" b="b" t="t" l="l"/>
              <a:pathLst>
                <a:path h="359329" w="1082082">
                  <a:moveTo>
                    <a:pt x="20092" y="0"/>
                  </a:moveTo>
                  <a:lnTo>
                    <a:pt x="1061990" y="0"/>
                  </a:lnTo>
                  <a:cubicBezTo>
                    <a:pt x="1067319" y="0"/>
                    <a:pt x="1072430" y="2117"/>
                    <a:pt x="1076198" y="5885"/>
                  </a:cubicBezTo>
                  <a:cubicBezTo>
                    <a:pt x="1079966" y="9653"/>
                    <a:pt x="1082082" y="14763"/>
                    <a:pt x="1082082" y="20092"/>
                  </a:cubicBezTo>
                  <a:lnTo>
                    <a:pt x="1082082" y="339236"/>
                  </a:lnTo>
                  <a:cubicBezTo>
                    <a:pt x="1082082" y="344565"/>
                    <a:pt x="1079966" y="349676"/>
                    <a:pt x="1076198" y="353444"/>
                  </a:cubicBezTo>
                  <a:cubicBezTo>
                    <a:pt x="1072430" y="357212"/>
                    <a:pt x="1067319" y="359329"/>
                    <a:pt x="1061990" y="359329"/>
                  </a:cubicBezTo>
                  <a:lnTo>
                    <a:pt x="20092" y="359329"/>
                  </a:lnTo>
                  <a:cubicBezTo>
                    <a:pt x="14763" y="359329"/>
                    <a:pt x="9653" y="357212"/>
                    <a:pt x="5885" y="353444"/>
                  </a:cubicBezTo>
                  <a:cubicBezTo>
                    <a:pt x="2117" y="349676"/>
                    <a:pt x="0" y="344565"/>
                    <a:pt x="0" y="339236"/>
                  </a:cubicBezTo>
                  <a:lnTo>
                    <a:pt x="0" y="20092"/>
                  </a:lnTo>
                  <a:cubicBezTo>
                    <a:pt x="0" y="14763"/>
                    <a:pt x="2117" y="9653"/>
                    <a:pt x="5885" y="5885"/>
                  </a:cubicBezTo>
                  <a:cubicBezTo>
                    <a:pt x="9653" y="2117"/>
                    <a:pt x="14763" y="0"/>
                    <a:pt x="20092" y="0"/>
                  </a:cubicBezTo>
                  <a:close/>
                </a:path>
              </a:pathLst>
            </a:custGeom>
            <a:solidFill>
              <a:srgbClr val="EAF0FF"/>
            </a:solidFill>
            <a:ln w="28575" cap="sq">
              <a:solidFill>
                <a:srgbClr val="649DE9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82082" cy="378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48280" y="5171171"/>
            <a:ext cx="5009130" cy="1663388"/>
            <a:chOff x="0" y="0"/>
            <a:chExt cx="1082082" cy="35932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2082" cy="359329"/>
            </a:xfrm>
            <a:custGeom>
              <a:avLst/>
              <a:gdLst/>
              <a:ahLst/>
              <a:cxnLst/>
              <a:rect r="r" b="b" t="t" l="l"/>
              <a:pathLst>
                <a:path h="359329" w="1082082">
                  <a:moveTo>
                    <a:pt x="20092" y="0"/>
                  </a:moveTo>
                  <a:lnTo>
                    <a:pt x="1061990" y="0"/>
                  </a:lnTo>
                  <a:cubicBezTo>
                    <a:pt x="1067319" y="0"/>
                    <a:pt x="1072430" y="2117"/>
                    <a:pt x="1076198" y="5885"/>
                  </a:cubicBezTo>
                  <a:cubicBezTo>
                    <a:pt x="1079966" y="9653"/>
                    <a:pt x="1082082" y="14763"/>
                    <a:pt x="1082082" y="20092"/>
                  </a:cubicBezTo>
                  <a:lnTo>
                    <a:pt x="1082082" y="339236"/>
                  </a:lnTo>
                  <a:cubicBezTo>
                    <a:pt x="1082082" y="344565"/>
                    <a:pt x="1079966" y="349676"/>
                    <a:pt x="1076198" y="353444"/>
                  </a:cubicBezTo>
                  <a:cubicBezTo>
                    <a:pt x="1072430" y="357212"/>
                    <a:pt x="1067319" y="359329"/>
                    <a:pt x="1061990" y="359329"/>
                  </a:cubicBezTo>
                  <a:lnTo>
                    <a:pt x="20092" y="359329"/>
                  </a:lnTo>
                  <a:cubicBezTo>
                    <a:pt x="14763" y="359329"/>
                    <a:pt x="9653" y="357212"/>
                    <a:pt x="5885" y="353444"/>
                  </a:cubicBezTo>
                  <a:cubicBezTo>
                    <a:pt x="2117" y="349676"/>
                    <a:pt x="0" y="344565"/>
                    <a:pt x="0" y="339236"/>
                  </a:cubicBezTo>
                  <a:lnTo>
                    <a:pt x="0" y="20092"/>
                  </a:lnTo>
                  <a:cubicBezTo>
                    <a:pt x="0" y="14763"/>
                    <a:pt x="2117" y="9653"/>
                    <a:pt x="5885" y="5885"/>
                  </a:cubicBezTo>
                  <a:cubicBezTo>
                    <a:pt x="9653" y="2117"/>
                    <a:pt x="14763" y="0"/>
                    <a:pt x="20092" y="0"/>
                  </a:cubicBezTo>
                  <a:close/>
                </a:path>
              </a:pathLst>
            </a:custGeom>
            <a:solidFill>
              <a:srgbClr val="EAF0FF"/>
            </a:solidFill>
            <a:ln w="28575" cap="sq">
              <a:solidFill>
                <a:srgbClr val="649DE9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082082" cy="378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48280" y="7372929"/>
            <a:ext cx="5009130" cy="1663388"/>
            <a:chOff x="0" y="0"/>
            <a:chExt cx="1082082" cy="3593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2082" cy="359329"/>
            </a:xfrm>
            <a:custGeom>
              <a:avLst/>
              <a:gdLst/>
              <a:ahLst/>
              <a:cxnLst/>
              <a:rect r="r" b="b" t="t" l="l"/>
              <a:pathLst>
                <a:path h="359329" w="1082082">
                  <a:moveTo>
                    <a:pt x="20092" y="0"/>
                  </a:moveTo>
                  <a:lnTo>
                    <a:pt x="1061990" y="0"/>
                  </a:lnTo>
                  <a:cubicBezTo>
                    <a:pt x="1067319" y="0"/>
                    <a:pt x="1072430" y="2117"/>
                    <a:pt x="1076198" y="5885"/>
                  </a:cubicBezTo>
                  <a:cubicBezTo>
                    <a:pt x="1079966" y="9653"/>
                    <a:pt x="1082082" y="14763"/>
                    <a:pt x="1082082" y="20092"/>
                  </a:cubicBezTo>
                  <a:lnTo>
                    <a:pt x="1082082" y="339236"/>
                  </a:lnTo>
                  <a:cubicBezTo>
                    <a:pt x="1082082" y="344565"/>
                    <a:pt x="1079966" y="349676"/>
                    <a:pt x="1076198" y="353444"/>
                  </a:cubicBezTo>
                  <a:cubicBezTo>
                    <a:pt x="1072430" y="357212"/>
                    <a:pt x="1067319" y="359329"/>
                    <a:pt x="1061990" y="359329"/>
                  </a:cubicBezTo>
                  <a:lnTo>
                    <a:pt x="20092" y="359329"/>
                  </a:lnTo>
                  <a:cubicBezTo>
                    <a:pt x="14763" y="359329"/>
                    <a:pt x="9653" y="357212"/>
                    <a:pt x="5885" y="353444"/>
                  </a:cubicBezTo>
                  <a:cubicBezTo>
                    <a:pt x="2117" y="349676"/>
                    <a:pt x="0" y="344565"/>
                    <a:pt x="0" y="339236"/>
                  </a:cubicBezTo>
                  <a:lnTo>
                    <a:pt x="0" y="20092"/>
                  </a:lnTo>
                  <a:cubicBezTo>
                    <a:pt x="0" y="14763"/>
                    <a:pt x="2117" y="9653"/>
                    <a:pt x="5885" y="5885"/>
                  </a:cubicBezTo>
                  <a:cubicBezTo>
                    <a:pt x="9653" y="2117"/>
                    <a:pt x="14763" y="0"/>
                    <a:pt x="20092" y="0"/>
                  </a:cubicBezTo>
                  <a:close/>
                </a:path>
              </a:pathLst>
            </a:custGeom>
            <a:solidFill>
              <a:srgbClr val="EAF0FF"/>
            </a:solidFill>
            <a:ln w="28575" cap="sq">
              <a:solidFill>
                <a:srgbClr val="649DE9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082082" cy="378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>
            <a:off x="10652845" y="6834559"/>
            <a:ext cx="0" cy="5383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>
            <a:off x="10652845" y="4589154"/>
            <a:ext cx="0" cy="5820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3" id="53"/>
          <p:cNvSpPr txBox="true"/>
          <p:nvPr/>
        </p:nvSpPr>
        <p:spPr>
          <a:xfrm rot="0">
            <a:off x="8148280" y="2330314"/>
            <a:ext cx="452604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b="true" sz="2712" spc="-22">
                <a:solidFill>
                  <a:srgbClr val="394876"/>
                </a:solidFill>
                <a:latin typeface="Tomorrow Bold"/>
                <a:ea typeface="Tomorrow Bold"/>
                <a:cs typeface="Tomorrow Bold"/>
                <a:sym typeface="Tomorrow Bold"/>
              </a:rPr>
              <a:t>THREE ENGINE PIPELINE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313277" y="3127182"/>
            <a:ext cx="622760" cy="680158"/>
            <a:chOff x="0" y="0"/>
            <a:chExt cx="812800" cy="88771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87713"/>
            </a:xfrm>
            <a:custGeom>
              <a:avLst/>
              <a:gdLst/>
              <a:ahLst/>
              <a:cxnLst/>
              <a:rect r="r" b="b" t="t" l="l"/>
              <a:pathLst>
                <a:path h="887713" w="812800">
                  <a:moveTo>
                    <a:pt x="406400" y="0"/>
                  </a:moveTo>
                  <a:cubicBezTo>
                    <a:pt x="181951" y="0"/>
                    <a:pt x="0" y="198721"/>
                    <a:pt x="0" y="443856"/>
                  </a:cubicBezTo>
                  <a:cubicBezTo>
                    <a:pt x="0" y="688991"/>
                    <a:pt x="181951" y="887713"/>
                    <a:pt x="406400" y="887713"/>
                  </a:cubicBezTo>
                  <a:cubicBezTo>
                    <a:pt x="630849" y="887713"/>
                    <a:pt x="812800" y="688991"/>
                    <a:pt x="812800" y="443856"/>
                  </a:cubicBezTo>
                  <a:cubicBezTo>
                    <a:pt x="812800" y="19872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9DE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83223"/>
              <a:ext cx="660400" cy="72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200" spc="-18">
                  <a:solidFill>
                    <a:srgbClr val="F5FAFC"/>
                  </a:solidFill>
                  <a:latin typeface="Tomorrow"/>
                  <a:ea typeface="Tomorrow"/>
                  <a:cs typeface="Tomorrow"/>
                  <a:sym typeface="Tomorrow"/>
                </a:rPr>
                <a:t>1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313277" y="5380105"/>
            <a:ext cx="622760" cy="680158"/>
            <a:chOff x="0" y="0"/>
            <a:chExt cx="812800" cy="88771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87713"/>
            </a:xfrm>
            <a:custGeom>
              <a:avLst/>
              <a:gdLst/>
              <a:ahLst/>
              <a:cxnLst/>
              <a:rect r="r" b="b" t="t" l="l"/>
              <a:pathLst>
                <a:path h="887713" w="812800">
                  <a:moveTo>
                    <a:pt x="406400" y="0"/>
                  </a:moveTo>
                  <a:cubicBezTo>
                    <a:pt x="181951" y="0"/>
                    <a:pt x="0" y="198721"/>
                    <a:pt x="0" y="443856"/>
                  </a:cubicBezTo>
                  <a:cubicBezTo>
                    <a:pt x="0" y="688991"/>
                    <a:pt x="181951" y="887713"/>
                    <a:pt x="406400" y="887713"/>
                  </a:cubicBezTo>
                  <a:cubicBezTo>
                    <a:pt x="630849" y="887713"/>
                    <a:pt x="812800" y="688991"/>
                    <a:pt x="812800" y="443856"/>
                  </a:cubicBezTo>
                  <a:cubicBezTo>
                    <a:pt x="812800" y="19872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9DE9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83223"/>
              <a:ext cx="660400" cy="72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200" spc="-18">
                  <a:solidFill>
                    <a:srgbClr val="F5FAFC"/>
                  </a:solidFill>
                  <a:latin typeface="Tomorrow"/>
                  <a:ea typeface="Tomorrow"/>
                  <a:cs typeface="Tomorrow"/>
                  <a:sym typeface="Tomorrow"/>
                </a:rPr>
                <a:t>2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313277" y="7625134"/>
            <a:ext cx="622760" cy="680158"/>
            <a:chOff x="0" y="0"/>
            <a:chExt cx="812800" cy="8877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87713"/>
            </a:xfrm>
            <a:custGeom>
              <a:avLst/>
              <a:gdLst/>
              <a:ahLst/>
              <a:cxnLst/>
              <a:rect r="r" b="b" t="t" l="l"/>
              <a:pathLst>
                <a:path h="887713" w="812800">
                  <a:moveTo>
                    <a:pt x="406400" y="0"/>
                  </a:moveTo>
                  <a:cubicBezTo>
                    <a:pt x="181951" y="0"/>
                    <a:pt x="0" y="198721"/>
                    <a:pt x="0" y="443856"/>
                  </a:cubicBezTo>
                  <a:cubicBezTo>
                    <a:pt x="0" y="688991"/>
                    <a:pt x="181951" y="887713"/>
                    <a:pt x="406400" y="887713"/>
                  </a:cubicBezTo>
                  <a:cubicBezTo>
                    <a:pt x="630849" y="887713"/>
                    <a:pt x="812800" y="688991"/>
                    <a:pt x="812800" y="443856"/>
                  </a:cubicBezTo>
                  <a:cubicBezTo>
                    <a:pt x="812800" y="19872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9DE9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83223"/>
              <a:ext cx="660400" cy="72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200" spc="-18">
                  <a:solidFill>
                    <a:srgbClr val="F5FAFC"/>
                  </a:solidFill>
                  <a:latin typeface="Tomorrow"/>
                  <a:ea typeface="Tomorrow"/>
                  <a:cs typeface="Tomorrow"/>
                  <a:sym typeface="Tomorrow"/>
                </a:rPr>
                <a:t>3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212102" y="3086261"/>
            <a:ext cx="346222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  <a:spcBef>
                <a:spcPct val="0"/>
              </a:spcBef>
            </a:pPr>
            <a:r>
              <a:rPr lang="en-US" sz="2454" spc="-20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L1 - PostGIS Hard-Filter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212102" y="3527918"/>
            <a:ext cx="3632364" cy="85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  <a:spcBef>
                <a:spcPct val="0"/>
              </a:spcBef>
            </a:pPr>
            <a:r>
              <a:rPr lang="en-US" sz="1884" spc="-15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ST_DWithin radius + open-hours + accessibility tags. O(N). 0ms overhead.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212102" y="5372188"/>
            <a:ext cx="346222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  <a:spcBef>
                <a:spcPct val="0"/>
              </a:spcBef>
            </a:pPr>
            <a:r>
              <a:rPr lang="en-US" sz="2454" spc="-20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L2 – 10-Factor Scoring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212102" y="5843975"/>
            <a:ext cx="3632364" cy="85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  <a:spcBef>
                <a:spcPct val="0"/>
              </a:spcBef>
            </a:pPr>
            <a:r>
              <a:rPr lang="en-US" sz="1884" spc="-15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Weighted sum → score ∈ [0,1]. Intent 0.25, rejection 0.25, location 0.20 dominate.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212102" y="7572954"/>
            <a:ext cx="297698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  <a:spcBef>
                <a:spcPct val="0"/>
              </a:spcBef>
            </a:pPr>
            <a:r>
              <a:rPr lang="en-US" sz="2454" spc="-20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L3 – Multimodal A*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212102" y="8049204"/>
            <a:ext cx="3632364" cy="85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  <a:spcBef>
                <a:spcPct val="0"/>
              </a:spcBef>
            </a:pPr>
            <a:r>
              <a:rPr lang="en-US" sz="1884" spc="-15">
                <a:solidFill>
                  <a:srgbClr val="394876"/>
                </a:solidFill>
                <a:latin typeface="Tomorrow"/>
                <a:ea typeface="Tomorrow"/>
                <a:cs typeface="Tomorrow"/>
                <a:sym typeface="Tomorrow"/>
              </a:rPr>
              <a:t>Real-road routing + Mumbai rail graph. Walk → Train → Walk, fare in INR.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3544215" y="2409021"/>
            <a:ext cx="4478149" cy="6849279"/>
            <a:chOff x="0" y="0"/>
            <a:chExt cx="967379" cy="14795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67379" cy="1479595"/>
            </a:xfrm>
            <a:custGeom>
              <a:avLst/>
              <a:gdLst/>
              <a:ahLst/>
              <a:cxnLst/>
              <a:rect r="r" b="b" t="t" l="l"/>
              <a:pathLst>
                <a:path h="1479595" w="967379">
                  <a:moveTo>
                    <a:pt x="22475" y="0"/>
                  </a:moveTo>
                  <a:lnTo>
                    <a:pt x="944904" y="0"/>
                  </a:lnTo>
                  <a:cubicBezTo>
                    <a:pt x="950865" y="0"/>
                    <a:pt x="956581" y="2368"/>
                    <a:pt x="960796" y="6583"/>
                  </a:cubicBezTo>
                  <a:cubicBezTo>
                    <a:pt x="965011" y="10798"/>
                    <a:pt x="967379" y="16514"/>
                    <a:pt x="967379" y="22475"/>
                  </a:cubicBezTo>
                  <a:lnTo>
                    <a:pt x="967379" y="1457120"/>
                  </a:lnTo>
                  <a:cubicBezTo>
                    <a:pt x="967379" y="1463081"/>
                    <a:pt x="965011" y="1468798"/>
                    <a:pt x="960796" y="1473013"/>
                  </a:cubicBezTo>
                  <a:cubicBezTo>
                    <a:pt x="956581" y="1477227"/>
                    <a:pt x="950865" y="1479595"/>
                    <a:pt x="944904" y="1479595"/>
                  </a:cubicBezTo>
                  <a:lnTo>
                    <a:pt x="22475" y="1479595"/>
                  </a:lnTo>
                  <a:cubicBezTo>
                    <a:pt x="16514" y="1479595"/>
                    <a:pt x="10798" y="1477227"/>
                    <a:pt x="6583" y="1473013"/>
                  </a:cubicBezTo>
                  <a:cubicBezTo>
                    <a:pt x="2368" y="1468798"/>
                    <a:pt x="0" y="1463081"/>
                    <a:pt x="0" y="1457120"/>
                  </a:cubicBezTo>
                  <a:lnTo>
                    <a:pt x="0" y="22475"/>
                  </a:lnTo>
                  <a:cubicBezTo>
                    <a:pt x="0" y="16514"/>
                    <a:pt x="2368" y="10798"/>
                    <a:pt x="6583" y="6583"/>
                  </a:cubicBezTo>
                  <a:cubicBezTo>
                    <a:pt x="10798" y="2368"/>
                    <a:pt x="16514" y="0"/>
                    <a:pt x="22475" y="0"/>
                  </a:cubicBezTo>
                  <a:close/>
                </a:path>
              </a:pathLst>
            </a:custGeom>
            <a:solidFill>
              <a:srgbClr val="649DE9"/>
            </a:solidFill>
            <a:ln w="28575" cap="sq">
              <a:solidFill>
                <a:srgbClr val="394876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967379" cy="14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3776535" y="2648111"/>
            <a:ext cx="39049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5"/>
              </a:lnSpc>
              <a:spcBef>
                <a:spcPct val="0"/>
              </a:spcBef>
            </a:pPr>
            <a:r>
              <a:rPr lang="en-US" b="true" sz="2712" spc="-22">
                <a:solidFill>
                  <a:srgbClr val="F5FAFC"/>
                </a:solidFill>
                <a:latin typeface="Tomorrow Bold"/>
                <a:ea typeface="Tomorrow Bold"/>
                <a:cs typeface="Tomorrow Bold"/>
                <a:sym typeface="Tomorrow Bold"/>
              </a:rPr>
              <a:t>ANTI-BACKTRACK CONTINUITY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690810" y="3757460"/>
            <a:ext cx="416010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3212" i="true" spc="-26">
                <a:solidFill>
                  <a:srgbClr val="F5FAFC"/>
                </a:solidFill>
                <a:latin typeface="Tomorrow Italics"/>
                <a:ea typeface="Tomorrow Italics"/>
                <a:cs typeface="Tomorrow Italics"/>
                <a:sym typeface="Tomorrow Italics"/>
              </a:rPr>
              <a:t>Δθ = |θtravel − θcand| (mod 360)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690810" y="4884915"/>
            <a:ext cx="43315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  <a:spcBef>
                <a:spcPct val="0"/>
              </a:spcBef>
            </a:pPr>
            <a:r>
              <a:rPr lang="en-US" sz="2950" i="true" spc="-24">
                <a:solidFill>
                  <a:srgbClr val="F5FAFC"/>
                </a:solidFill>
                <a:latin typeface="Tomorrow Italics"/>
                <a:ea typeface="Tomorrow Italics"/>
                <a:cs typeface="Tomorrow Italics"/>
                <a:sym typeface="Tomorrow Italics"/>
              </a:rPr>
              <a:t>S = α e⁻ᵇΔθ + β d/(1 + Δt)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774523" y="5492960"/>
            <a:ext cx="4076390" cy="26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  <a:spcBef>
                <a:spcPct val="0"/>
              </a:spcBef>
            </a:pPr>
            <a:r>
              <a:rPr lang="en-US" sz="1693" spc="-14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α = angle · 1.0 β = turn · 0.5 Δt = turn · 0.0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704572" y="6079319"/>
            <a:ext cx="362979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  <a:spcBef>
                <a:spcPct val="0"/>
              </a:spcBef>
            </a:pPr>
            <a:r>
              <a:rPr lang="en-US" sz="2454" spc="-20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TOP SCORING WEIGHTS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776535" y="6682159"/>
            <a:ext cx="171016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  <a:spcBef>
                <a:spcPct val="0"/>
              </a:spcBef>
            </a:pPr>
            <a:r>
              <a:rPr lang="en-US" sz="1884" spc="-15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Intent match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776535" y="7065637"/>
            <a:ext cx="174293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  <a:spcBef>
                <a:spcPct val="0"/>
              </a:spcBef>
            </a:pPr>
            <a:r>
              <a:rPr lang="en-US" sz="1884" spc="-15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Rejection penalty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774523" y="7787266"/>
            <a:ext cx="1710163" cy="4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884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Location match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774523" y="8379940"/>
            <a:ext cx="171016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  <a:spcBef>
                <a:spcPct val="0"/>
              </a:spcBef>
            </a:pPr>
            <a:r>
              <a:rPr lang="en-US" sz="1884" spc="-15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Budget Fit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774523" y="8784369"/>
            <a:ext cx="171016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  <a:spcBef>
                <a:spcPct val="0"/>
              </a:spcBef>
            </a:pPr>
            <a:r>
              <a:rPr lang="en-US" sz="1884" spc="-15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Rating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5527038" y="6664111"/>
            <a:ext cx="2154438" cy="340897"/>
            <a:chOff x="0" y="0"/>
            <a:chExt cx="567424" cy="897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67424" cy="89784"/>
            </a:xfrm>
            <a:custGeom>
              <a:avLst/>
              <a:gdLst/>
              <a:ahLst/>
              <a:cxnLst/>
              <a:rect r="r" b="b" t="t" l="l"/>
              <a:pathLst>
                <a:path h="89784" w="567424">
                  <a:moveTo>
                    <a:pt x="0" y="0"/>
                  </a:moveTo>
                  <a:lnTo>
                    <a:pt x="567424" y="0"/>
                  </a:lnTo>
                  <a:lnTo>
                    <a:pt x="567424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394876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567424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527038" y="7202480"/>
            <a:ext cx="2154438" cy="340897"/>
            <a:chOff x="0" y="0"/>
            <a:chExt cx="567424" cy="897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67424" cy="89784"/>
            </a:xfrm>
            <a:custGeom>
              <a:avLst/>
              <a:gdLst/>
              <a:ahLst/>
              <a:cxnLst/>
              <a:rect r="r" b="b" t="t" l="l"/>
              <a:pathLst>
                <a:path h="89784" w="567424">
                  <a:moveTo>
                    <a:pt x="0" y="0"/>
                  </a:moveTo>
                  <a:lnTo>
                    <a:pt x="567424" y="0"/>
                  </a:lnTo>
                  <a:lnTo>
                    <a:pt x="567424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394876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567424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527038" y="7794765"/>
            <a:ext cx="2154438" cy="340897"/>
            <a:chOff x="0" y="0"/>
            <a:chExt cx="567424" cy="897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67424" cy="89784"/>
            </a:xfrm>
            <a:custGeom>
              <a:avLst/>
              <a:gdLst/>
              <a:ahLst/>
              <a:cxnLst/>
              <a:rect r="r" b="b" t="t" l="l"/>
              <a:pathLst>
                <a:path h="89784" w="567424">
                  <a:moveTo>
                    <a:pt x="0" y="0"/>
                  </a:moveTo>
                  <a:lnTo>
                    <a:pt x="567424" y="0"/>
                  </a:lnTo>
                  <a:lnTo>
                    <a:pt x="567424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394876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567424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AutoShape 91" id="91"/>
          <p:cNvSpPr/>
          <p:nvPr/>
        </p:nvSpPr>
        <p:spPr>
          <a:xfrm flipV="true">
            <a:off x="13605085" y="7075162"/>
            <a:ext cx="4417279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13605085" y="7707439"/>
            <a:ext cx="4392424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>
            <a:off x="13605085" y="8300530"/>
            <a:ext cx="4417279" cy="4762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3605085" y="8765703"/>
            <a:ext cx="4417279" cy="0"/>
          </a:xfrm>
          <a:prstGeom prst="line">
            <a:avLst/>
          </a:prstGeom>
          <a:ln cap="flat" w="952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95" id="95"/>
          <p:cNvGrpSpPr/>
          <p:nvPr/>
        </p:nvGrpSpPr>
        <p:grpSpPr>
          <a:xfrm rot="0">
            <a:off x="15527038" y="8361892"/>
            <a:ext cx="2154438" cy="340897"/>
            <a:chOff x="0" y="0"/>
            <a:chExt cx="567424" cy="897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67424" cy="89784"/>
            </a:xfrm>
            <a:custGeom>
              <a:avLst/>
              <a:gdLst/>
              <a:ahLst/>
              <a:cxnLst/>
              <a:rect r="r" b="b" t="t" l="l"/>
              <a:pathLst>
                <a:path h="89784" w="567424">
                  <a:moveTo>
                    <a:pt x="0" y="0"/>
                  </a:moveTo>
                  <a:lnTo>
                    <a:pt x="567424" y="0"/>
                  </a:lnTo>
                  <a:lnTo>
                    <a:pt x="567424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394876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567424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527038" y="8856190"/>
            <a:ext cx="2154438" cy="340897"/>
            <a:chOff x="0" y="0"/>
            <a:chExt cx="567424" cy="897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7424" cy="89784"/>
            </a:xfrm>
            <a:custGeom>
              <a:avLst/>
              <a:gdLst/>
              <a:ahLst/>
              <a:cxnLst/>
              <a:rect r="r" b="b" t="t" l="l"/>
              <a:pathLst>
                <a:path h="89784" w="567424">
                  <a:moveTo>
                    <a:pt x="0" y="0"/>
                  </a:moveTo>
                  <a:lnTo>
                    <a:pt x="567424" y="0"/>
                  </a:lnTo>
                  <a:lnTo>
                    <a:pt x="567424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394876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567424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7140092" y="7794765"/>
            <a:ext cx="541384" cy="340897"/>
            <a:chOff x="0" y="0"/>
            <a:chExt cx="142587" cy="897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2587" cy="89784"/>
            </a:xfrm>
            <a:custGeom>
              <a:avLst/>
              <a:gdLst/>
              <a:ahLst/>
              <a:cxnLst/>
              <a:rect r="r" b="b" t="t" l="l"/>
              <a:pathLst>
                <a:path h="89784" w="142587">
                  <a:moveTo>
                    <a:pt x="0" y="0"/>
                  </a:moveTo>
                  <a:lnTo>
                    <a:pt x="142587" y="0"/>
                  </a:lnTo>
                  <a:lnTo>
                    <a:pt x="142587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EAF0FF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42587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6785017" y="8365049"/>
            <a:ext cx="896458" cy="340897"/>
            <a:chOff x="0" y="0"/>
            <a:chExt cx="236104" cy="897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6104" cy="89784"/>
            </a:xfrm>
            <a:custGeom>
              <a:avLst/>
              <a:gdLst/>
              <a:ahLst/>
              <a:cxnLst/>
              <a:rect r="r" b="b" t="t" l="l"/>
              <a:pathLst>
                <a:path h="89784" w="236104">
                  <a:moveTo>
                    <a:pt x="0" y="0"/>
                  </a:moveTo>
                  <a:lnTo>
                    <a:pt x="236104" y="0"/>
                  </a:lnTo>
                  <a:lnTo>
                    <a:pt x="236104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EAF0FF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236104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6785017" y="8856190"/>
            <a:ext cx="896458" cy="340897"/>
            <a:chOff x="0" y="0"/>
            <a:chExt cx="236104" cy="897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6104" cy="89784"/>
            </a:xfrm>
            <a:custGeom>
              <a:avLst/>
              <a:gdLst/>
              <a:ahLst/>
              <a:cxnLst/>
              <a:rect r="r" b="b" t="t" l="l"/>
              <a:pathLst>
                <a:path h="89784" w="236104">
                  <a:moveTo>
                    <a:pt x="0" y="0"/>
                  </a:moveTo>
                  <a:lnTo>
                    <a:pt x="236104" y="0"/>
                  </a:lnTo>
                  <a:lnTo>
                    <a:pt x="236104" y="89784"/>
                  </a:lnTo>
                  <a:lnTo>
                    <a:pt x="0" y="89784"/>
                  </a:lnTo>
                  <a:close/>
                </a:path>
              </a:pathLst>
            </a:custGeom>
            <a:solidFill>
              <a:srgbClr val="EAF0FF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236104" cy="108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</a:p>
          </p:txBody>
        </p:sp>
      </p:grpSp>
      <p:sp>
        <p:nvSpPr>
          <p:cNvPr name="TextBox 110" id="110"/>
          <p:cNvSpPr txBox="true"/>
          <p:nvPr/>
        </p:nvSpPr>
        <p:spPr>
          <a:xfrm rot="5400000">
            <a:off x="17640594" y="6743092"/>
            <a:ext cx="343206" cy="18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  <a:spcBef>
                <a:spcPct val="0"/>
              </a:spcBef>
            </a:pPr>
            <a:r>
              <a:rPr lang="en-US" sz="1179" spc="-9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0.25</a:t>
            </a:r>
          </a:p>
        </p:txBody>
      </p:sp>
      <p:sp>
        <p:nvSpPr>
          <p:cNvPr name="TextBox 111" id="111"/>
          <p:cNvSpPr txBox="true"/>
          <p:nvPr/>
        </p:nvSpPr>
        <p:spPr>
          <a:xfrm rot="5400000">
            <a:off x="17640594" y="7279152"/>
            <a:ext cx="343206" cy="18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  <a:spcBef>
                <a:spcPct val="0"/>
              </a:spcBef>
            </a:pPr>
            <a:r>
              <a:rPr lang="en-US" sz="1179" spc="-9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0.25</a:t>
            </a:r>
          </a:p>
        </p:txBody>
      </p:sp>
      <p:sp>
        <p:nvSpPr>
          <p:cNvPr name="TextBox 112" id="112"/>
          <p:cNvSpPr txBox="true"/>
          <p:nvPr/>
        </p:nvSpPr>
        <p:spPr>
          <a:xfrm rot="5400000">
            <a:off x="17640594" y="7873744"/>
            <a:ext cx="343206" cy="18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  <a:spcBef>
                <a:spcPct val="0"/>
              </a:spcBef>
            </a:pPr>
            <a:r>
              <a:rPr lang="en-US" sz="1179" spc="-9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0.20</a:t>
            </a:r>
          </a:p>
        </p:txBody>
      </p:sp>
      <p:sp>
        <p:nvSpPr>
          <p:cNvPr name="TextBox 113" id="113"/>
          <p:cNvSpPr txBox="true"/>
          <p:nvPr/>
        </p:nvSpPr>
        <p:spPr>
          <a:xfrm rot="5400000">
            <a:off x="17640594" y="8468338"/>
            <a:ext cx="343206" cy="18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  <a:spcBef>
                <a:spcPct val="0"/>
              </a:spcBef>
            </a:pPr>
            <a:r>
              <a:rPr lang="en-US" sz="1179" spc="-9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0.15</a:t>
            </a:r>
          </a:p>
        </p:txBody>
      </p:sp>
      <p:sp>
        <p:nvSpPr>
          <p:cNvPr name="TextBox 114" id="114"/>
          <p:cNvSpPr txBox="true"/>
          <p:nvPr/>
        </p:nvSpPr>
        <p:spPr>
          <a:xfrm rot="5400000">
            <a:off x="17640594" y="8943694"/>
            <a:ext cx="343206" cy="18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  <a:spcBef>
                <a:spcPct val="0"/>
              </a:spcBef>
            </a:pPr>
            <a:r>
              <a:rPr lang="en-US" sz="1179" spc="-9">
                <a:solidFill>
                  <a:srgbClr val="F5FAFC"/>
                </a:solidFill>
                <a:latin typeface="Tomorrow"/>
                <a:ea typeface="Tomorrow"/>
                <a:cs typeface="Tomorrow"/>
                <a:sym typeface="Tomorrow"/>
              </a:rPr>
              <a:t>0.15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4EBF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0569" y="8380208"/>
            <a:ext cx="6092415" cy="1236802"/>
            <a:chOff x="0" y="0"/>
            <a:chExt cx="1604587" cy="3257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4587" cy="325742"/>
            </a:xfrm>
            <a:custGeom>
              <a:avLst/>
              <a:gdLst/>
              <a:ahLst/>
              <a:cxnLst/>
              <a:rect r="r" b="b" t="t" l="l"/>
              <a:pathLst>
                <a:path h="325742" w="1604587">
                  <a:moveTo>
                    <a:pt x="38122" y="0"/>
                  </a:moveTo>
                  <a:lnTo>
                    <a:pt x="1566464" y="0"/>
                  </a:lnTo>
                  <a:cubicBezTo>
                    <a:pt x="1576575" y="0"/>
                    <a:pt x="1586271" y="4016"/>
                    <a:pt x="1593421" y="11166"/>
                  </a:cubicBezTo>
                  <a:cubicBezTo>
                    <a:pt x="1600570" y="18315"/>
                    <a:pt x="1604587" y="28012"/>
                    <a:pt x="1604587" y="38122"/>
                  </a:cubicBezTo>
                  <a:lnTo>
                    <a:pt x="1604587" y="287620"/>
                  </a:lnTo>
                  <a:cubicBezTo>
                    <a:pt x="1604587" y="297730"/>
                    <a:pt x="1600570" y="307427"/>
                    <a:pt x="1593421" y="314576"/>
                  </a:cubicBezTo>
                  <a:cubicBezTo>
                    <a:pt x="1586271" y="321726"/>
                    <a:pt x="1576575" y="325742"/>
                    <a:pt x="1566464" y="325742"/>
                  </a:cubicBezTo>
                  <a:lnTo>
                    <a:pt x="38122" y="325742"/>
                  </a:lnTo>
                  <a:cubicBezTo>
                    <a:pt x="28012" y="325742"/>
                    <a:pt x="18315" y="321726"/>
                    <a:pt x="11166" y="314576"/>
                  </a:cubicBezTo>
                  <a:cubicBezTo>
                    <a:pt x="4016" y="307427"/>
                    <a:pt x="0" y="297730"/>
                    <a:pt x="0" y="287620"/>
                  </a:cubicBezTo>
                  <a:lnTo>
                    <a:pt x="0" y="38122"/>
                  </a:lnTo>
                  <a:cubicBezTo>
                    <a:pt x="0" y="28012"/>
                    <a:pt x="4016" y="18315"/>
                    <a:pt x="11166" y="11166"/>
                  </a:cubicBezTo>
                  <a:cubicBezTo>
                    <a:pt x="18315" y="4016"/>
                    <a:pt x="28012" y="0"/>
                    <a:pt x="38122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604587" cy="335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64687" y="8513558"/>
            <a:ext cx="1052809" cy="868567"/>
          </a:xfrm>
          <a:custGeom>
            <a:avLst/>
            <a:gdLst/>
            <a:ahLst/>
            <a:cxnLst/>
            <a:rect r="r" b="b" t="t" l="l"/>
            <a:pathLst>
              <a:path h="868567" w="1052809">
                <a:moveTo>
                  <a:pt x="0" y="0"/>
                </a:moveTo>
                <a:lnTo>
                  <a:pt x="1052808" y="0"/>
                </a:lnTo>
                <a:lnTo>
                  <a:pt x="1052808" y="868567"/>
                </a:lnTo>
                <a:lnTo>
                  <a:pt x="0" y="868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70569" y="6848131"/>
            <a:ext cx="6092415" cy="1236802"/>
            <a:chOff x="0" y="0"/>
            <a:chExt cx="1604587" cy="3257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4587" cy="325742"/>
            </a:xfrm>
            <a:custGeom>
              <a:avLst/>
              <a:gdLst/>
              <a:ahLst/>
              <a:cxnLst/>
              <a:rect r="r" b="b" t="t" l="l"/>
              <a:pathLst>
                <a:path h="325742" w="1604587">
                  <a:moveTo>
                    <a:pt x="38122" y="0"/>
                  </a:moveTo>
                  <a:lnTo>
                    <a:pt x="1566464" y="0"/>
                  </a:lnTo>
                  <a:cubicBezTo>
                    <a:pt x="1576575" y="0"/>
                    <a:pt x="1586271" y="4016"/>
                    <a:pt x="1593421" y="11166"/>
                  </a:cubicBezTo>
                  <a:cubicBezTo>
                    <a:pt x="1600570" y="18315"/>
                    <a:pt x="1604587" y="28012"/>
                    <a:pt x="1604587" y="38122"/>
                  </a:cubicBezTo>
                  <a:lnTo>
                    <a:pt x="1604587" y="287620"/>
                  </a:lnTo>
                  <a:cubicBezTo>
                    <a:pt x="1604587" y="297730"/>
                    <a:pt x="1600570" y="307427"/>
                    <a:pt x="1593421" y="314576"/>
                  </a:cubicBezTo>
                  <a:cubicBezTo>
                    <a:pt x="1586271" y="321726"/>
                    <a:pt x="1576575" y="325742"/>
                    <a:pt x="1566464" y="325742"/>
                  </a:cubicBezTo>
                  <a:lnTo>
                    <a:pt x="38122" y="325742"/>
                  </a:lnTo>
                  <a:cubicBezTo>
                    <a:pt x="28012" y="325742"/>
                    <a:pt x="18315" y="321726"/>
                    <a:pt x="11166" y="314576"/>
                  </a:cubicBezTo>
                  <a:cubicBezTo>
                    <a:pt x="4016" y="307427"/>
                    <a:pt x="0" y="297730"/>
                    <a:pt x="0" y="287620"/>
                  </a:cubicBezTo>
                  <a:lnTo>
                    <a:pt x="0" y="38122"/>
                  </a:lnTo>
                  <a:cubicBezTo>
                    <a:pt x="0" y="28012"/>
                    <a:pt x="4016" y="18315"/>
                    <a:pt x="11166" y="11166"/>
                  </a:cubicBezTo>
                  <a:cubicBezTo>
                    <a:pt x="18315" y="4016"/>
                    <a:pt x="28012" y="0"/>
                    <a:pt x="38122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604587" cy="335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569" y="5316055"/>
            <a:ext cx="6092415" cy="1236802"/>
            <a:chOff x="0" y="0"/>
            <a:chExt cx="1604587" cy="3257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4587" cy="325742"/>
            </a:xfrm>
            <a:custGeom>
              <a:avLst/>
              <a:gdLst/>
              <a:ahLst/>
              <a:cxnLst/>
              <a:rect r="r" b="b" t="t" l="l"/>
              <a:pathLst>
                <a:path h="325742" w="1604587">
                  <a:moveTo>
                    <a:pt x="38122" y="0"/>
                  </a:moveTo>
                  <a:lnTo>
                    <a:pt x="1566464" y="0"/>
                  </a:lnTo>
                  <a:cubicBezTo>
                    <a:pt x="1576575" y="0"/>
                    <a:pt x="1586271" y="4016"/>
                    <a:pt x="1593421" y="11166"/>
                  </a:cubicBezTo>
                  <a:cubicBezTo>
                    <a:pt x="1600570" y="18315"/>
                    <a:pt x="1604587" y="28012"/>
                    <a:pt x="1604587" y="38122"/>
                  </a:cubicBezTo>
                  <a:lnTo>
                    <a:pt x="1604587" y="287620"/>
                  </a:lnTo>
                  <a:cubicBezTo>
                    <a:pt x="1604587" y="297730"/>
                    <a:pt x="1600570" y="307427"/>
                    <a:pt x="1593421" y="314576"/>
                  </a:cubicBezTo>
                  <a:cubicBezTo>
                    <a:pt x="1586271" y="321726"/>
                    <a:pt x="1576575" y="325742"/>
                    <a:pt x="1566464" y="325742"/>
                  </a:cubicBezTo>
                  <a:lnTo>
                    <a:pt x="38122" y="325742"/>
                  </a:lnTo>
                  <a:cubicBezTo>
                    <a:pt x="28012" y="325742"/>
                    <a:pt x="18315" y="321726"/>
                    <a:pt x="11166" y="314576"/>
                  </a:cubicBezTo>
                  <a:cubicBezTo>
                    <a:pt x="4016" y="307427"/>
                    <a:pt x="0" y="297730"/>
                    <a:pt x="0" y="287620"/>
                  </a:cubicBezTo>
                  <a:lnTo>
                    <a:pt x="0" y="38122"/>
                  </a:lnTo>
                  <a:cubicBezTo>
                    <a:pt x="0" y="28012"/>
                    <a:pt x="4016" y="18315"/>
                    <a:pt x="11166" y="11166"/>
                  </a:cubicBezTo>
                  <a:cubicBezTo>
                    <a:pt x="18315" y="4016"/>
                    <a:pt x="28012" y="0"/>
                    <a:pt x="38122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604587" cy="335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0569" y="3783978"/>
            <a:ext cx="6092415" cy="1236802"/>
            <a:chOff x="0" y="0"/>
            <a:chExt cx="1604587" cy="3257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4587" cy="325742"/>
            </a:xfrm>
            <a:custGeom>
              <a:avLst/>
              <a:gdLst/>
              <a:ahLst/>
              <a:cxnLst/>
              <a:rect r="r" b="b" t="t" l="l"/>
              <a:pathLst>
                <a:path h="325742" w="1604587">
                  <a:moveTo>
                    <a:pt x="38122" y="0"/>
                  </a:moveTo>
                  <a:lnTo>
                    <a:pt x="1566464" y="0"/>
                  </a:lnTo>
                  <a:cubicBezTo>
                    <a:pt x="1576575" y="0"/>
                    <a:pt x="1586271" y="4016"/>
                    <a:pt x="1593421" y="11166"/>
                  </a:cubicBezTo>
                  <a:cubicBezTo>
                    <a:pt x="1600570" y="18315"/>
                    <a:pt x="1604587" y="28012"/>
                    <a:pt x="1604587" y="38122"/>
                  </a:cubicBezTo>
                  <a:lnTo>
                    <a:pt x="1604587" y="287620"/>
                  </a:lnTo>
                  <a:cubicBezTo>
                    <a:pt x="1604587" y="297730"/>
                    <a:pt x="1600570" y="307427"/>
                    <a:pt x="1593421" y="314576"/>
                  </a:cubicBezTo>
                  <a:cubicBezTo>
                    <a:pt x="1586271" y="321726"/>
                    <a:pt x="1576575" y="325742"/>
                    <a:pt x="1566464" y="325742"/>
                  </a:cubicBezTo>
                  <a:lnTo>
                    <a:pt x="38122" y="325742"/>
                  </a:lnTo>
                  <a:cubicBezTo>
                    <a:pt x="28012" y="325742"/>
                    <a:pt x="18315" y="321726"/>
                    <a:pt x="11166" y="314576"/>
                  </a:cubicBezTo>
                  <a:cubicBezTo>
                    <a:pt x="4016" y="307427"/>
                    <a:pt x="0" y="297730"/>
                    <a:pt x="0" y="287620"/>
                  </a:cubicBezTo>
                  <a:lnTo>
                    <a:pt x="0" y="38122"/>
                  </a:lnTo>
                  <a:cubicBezTo>
                    <a:pt x="0" y="28012"/>
                    <a:pt x="4016" y="18315"/>
                    <a:pt x="11166" y="11166"/>
                  </a:cubicBezTo>
                  <a:cubicBezTo>
                    <a:pt x="18315" y="4016"/>
                    <a:pt x="28012" y="0"/>
                    <a:pt x="38122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604587" cy="335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6784" y="2251901"/>
            <a:ext cx="6096199" cy="1198702"/>
            <a:chOff x="0" y="0"/>
            <a:chExt cx="1605583" cy="3157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05583" cy="315707"/>
            </a:xfrm>
            <a:custGeom>
              <a:avLst/>
              <a:gdLst/>
              <a:ahLst/>
              <a:cxnLst/>
              <a:rect r="r" b="b" t="t" l="l"/>
              <a:pathLst>
                <a:path h="315707" w="1605583">
                  <a:moveTo>
                    <a:pt x="38099" y="0"/>
                  </a:moveTo>
                  <a:lnTo>
                    <a:pt x="1567485" y="0"/>
                  </a:lnTo>
                  <a:cubicBezTo>
                    <a:pt x="1588526" y="0"/>
                    <a:pt x="1605583" y="17057"/>
                    <a:pt x="1605583" y="38099"/>
                  </a:cubicBezTo>
                  <a:lnTo>
                    <a:pt x="1605583" y="277609"/>
                  </a:lnTo>
                  <a:cubicBezTo>
                    <a:pt x="1605583" y="287713"/>
                    <a:pt x="1601569" y="297404"/>
                    <a:pt x="1594424" y="304549"/>
                  </a:cubicBezTo>
                  <a:cubicBezTo>
                    <a:pt x="1587280" y="311693"/>
                    <a:pt x="1577589" y="315707"/>
                    <a:pt x="1567485" y="315707"/>
                  </a:cubicBezTo>
                  <a:lnTo>
                    <a:pt x="38099" y="315707"/>
                  </a:lnTo>
                  <a:cubicBezTo>
                    <a:pt x="17057" y="315707"/>
                    <a:pt x="0" y="298650"/>
                    <a:pt x="0" y="277609"/>
                  </a:cubicBezTo>
                  <a:lnTo>
                    <a:pt x="0" y="38099"/>
                  </a:lnTo>
                  <a:cubicBezTo>
                    <a:pt x="0" y="17057"/>
                    <a:pt x="17057" y="0"/>
                    <a:pt x="38099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605583" cy="325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06876" y="6900886"/>
            <a:ext cx="1254128" cy="1131291"/>
          </a:xfrm>
          <a:custGeom>
            <a:avLst/>
            <a:gdLst/>
            <a:ahLst/>
            <a:cxnLst/>
            <a:rect r="r" b="b" t="t" l="l"/>
            <a:pathLst>
              <a:path h="1131291" w="1254128">
                <a:moveTo>
                  <a:pt x="0" y="0"/>
                </a:moveTo>
                <a:lnTo>
                  <a:pt x="1254127" y="0"/>
                </a:lnTo>
                <a:lnTo>
                  <a:pt x="1254127" y="1131292"/>
                </a:lnTo>
                <a:lnTo>
                  <a:pt x="0" y="1131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541" t="-27075" r="-126523" b="-26673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4687" y="3888753"/>
            <a:ext cx="1052809" cy="998677"/>
          </a:xfrm>
          <a:custGeom>
            <a:avLst/>
            <a:gdLst/>
            <a:ahLst/>
            <a:cxnLst/>
            <a:rect r="r" b="b" t="t" l="l"/>
            <a:pathLst>
              <a:path h="998677" w="1052809">
                <a:moveTo>
                  <a:pt x="0" y="0"/>
                </a:moveTo>
                <a:lnTo>
                  <a:pt x="1052808" y="0"/>
                </a:lnTo>
                <a:lnTo>
                  <a:pt x="1052808" y="998677"/>
                </a:lnTo>
                <a:lnTo>
                  <a:pt x="0" y="998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113" t="-11981" r="-8636" b="-1215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03445" y="5446809"/>
            <a:ext cx="975293" cy="975293"/>
          </a:xfrm>
          <a:custGeom>
            <a:avLst/>
            <a:gdLst/>
            <a:ahLst/>
            <a:cxnLst/>
            <a:rect r="r" b="b" t="t" l="l"/>
            <a:pathLst>
              <a:path h="975293" w="975293">
                <a:moveTo>
                  <a:pt x="0" y="0"/>
                </a:moveTo>
                <a:lnTo>
                  <a:pt x="975293" y="0"/>
                </a:lnTo>
                <a:lnTo>
                  <a:pt x="975293" y="975293"/>
                </a:lnTo>
                <a:lnTo>
                  <a:pt x="0" y="9752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41674" y="2340159"/>
            <a:ext cx="1075822" cy="1015194"/>
          </a:xfrm>
          <a:custGeom>
            <a:avLst/>
            <a:gdLst/>
            <a:ahLst/>
            <a:cxnLst/>
            <a:rect r="r" b="b" t="t" l="l"/>
            <a:pathLst>
              <a:path h="1015194" w="1075822">
                <a:moveTo>
                  <a:pt x="0" y="0"/>
                </a:moveTo>
                <a:lnTo>
                  <a:pt x="1075821" y="0"/>
                </a:lnTo>
                <a:lnTo>
                  <a:pt x="1075821" y="1015194"/>
                </a:lnTo>
                <a:lnTo>
                  <a:pt x="0" y="1015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986" r="0" b="-298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82358" y="8408783"/>
            <a:ext cx="512235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7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Local Guides:Authentic Recommendations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5947" y="5306530"/>
            <a:ext cx="5708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spc="-17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Airbnb Experiences:Local Activities</a:t>
            </a:r>
          </a:p>
        </p:txBody>
      </p:sp>
      <p:sp>
        <p:nvSpPr>
          <p:cNvPr name="AutoShape 26" id="26"/>
          <p:cNvSpPr/>
          <p:nvPr/>
        </p:nvSpPr>
        <p:spPr>
          <a:xfrm>
            <a:off x="6502969" y="2357368"/>
            <a:ext cx="35205" cy="73080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6804710" y="2780715"/>
            <a:ext cx="1226373" cy="1073076"/>
          </a:xfrm>
          <a:custGeom>
            <a:avLst/>
            <a:gdLst/>
            <a:ahLst/>
            <a:cxnLst/>
            <a:rect r="r" b="b" t="t" l="l"/>
            <a:pathLst>
              <a:path h="1073076" w="1226373">
                <a:moveTo>
                  <a:pt x="0" y="0"/>
                </a:moveTo>
                <a:lnTo>
                  <a:pt x="1226373" y="0"/>
                </a:lnTo>
                <a:lnTo>
                  <a:pt x="1226373" y="1073076"/>
                </a:lnTo>
                <a:lnTo>
                  <a:pt x="0" y="10730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249605" y="2847756"/>
            <a:ext cx="800100" cy="800100"/>
          </a:xfrm>
          <a:custGeom>
            <a:avLst/>
            <a:gdLst/>
            <a:ahLst/>
            <a:cxnLst/>
            <a:rect r="r" b="b" t="t" l="l"/>
            <a:pathLst>
              <a:path h="800100" w="800100">
                <a:moveTo>
                  <a:pt x="0" y="0"/>
                </a:moveTo>
                <a:lnTo>
                  <a:pt x="800100" y="0"/>
                </a:lnTo>
                <a:lnTo>
                  <a:pt x="800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9" id="29"/>
          <p:cNvSpPr/>
          <p:nvPr/>
        </p:nvSpPr>
        <p:spPr>
          <a:xfrm>
            <a:off x="8273889" y="3317253"/>
            <a:ext cx="794741" cy="0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0421180" y="3317253"/>
            <a:ext cx="585184" cy="0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1501590" y="4823669"/>
            <a:ext cx="800100" cy="800100"/>
          </a:xfrm>
          <a:custGeom>
            <a:avLst/>
            <a:gdLst/>
            <a:ahLst/>
            <a:cxnLst/>
            <a:rect r="r" b="b" t="t" l="l"/>
            <a:pathLst>
              <a:path h="800100" w="800100">
                <a:moveTo>
                  <a:pt x="0" y="0"/>
                </a:moveTo>
                <a:lnTo>
                  <a:pt x="800100" y="0"/>
                </a:lnTo>
                <a:lnTo>
                  <a:pt x="800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144719" y="4804619"/>
            <a:ext cx="800100" cy="800100"/>
          </a:xfrm>
          <a:custGeom>
            <a:avLst/>
            <a:gdLst/>
            <a:ahLst/>
            <a:cxnLst/>
            <a:rect r="r" b="b" t="t" l="l"/>
            <a:pathLst>
              <a:path h="800100" w="800100">
                <a:moveTo>
                  <a:pt x="0" y="0"/>
                </a:moveTo>
                <a:lnTo>
                  <a:pt x="800100" y="0"/>
                </a:lnTo>
                <a:lnTo>
                  <a:pt x="800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368587" y="6893823"/>
            <a:ext cx="800100" cy="800100"/>
          </a:xfrm>
          <a:custGeom>
            <a:avLst/>
            <a:gdLst/>
            <a:ahLst/>
            <a:cxnLst/>
            <a:rect r="r" b="b" t="t" l="l"/>
            <a:pathLst>
              <a:path h="800100" w="800100">
                <a:moveTo>
                  <a:pt x="0" y="0"/>
                </a:moveTo>
                <a:lnTo>
                  <a:pt x="800100" y="0"/>
                </a:lnTo>
                <a:lnTo>
                  <a:pt x="800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960730" y="6478080"/>
            <a:ext cx="1318004" cy="1173023"/>
          </a:xfrm>
          <a:custGeom>
            <a:avLst/>
            <a:gdLst/>
            <a:ahLst/>
            <a:cxnLst/>
            <a:rect r="r" b="b" t="t" l="l"/>
            <a:pathLst>
              <a:path h="1173023" w="1318004">
                <a:moveTo>
                  <a:pt x="0" y="0"/>
                </a:moveTo>
                <a:lnTo>
                  <a:pt x="1318003" y="0"/>
                </a:lnTo>
                <a:lnTo>
                  <a:pt x="1318003" y="1173023"/>
                </a:lnTo>
                <a:lnTo>
                  <a:pt x="0" y="1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35" id="35"/>
          <p:cNvSpPr/>
          <p:nvPr/>
        </p:nvSpPr>
        <p:spPr>
          <a:xfrm>
            <a:off x="8516695" y="7293873"/>
            <a:ext cx="794741" cy="0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36" id="36"/>
          <p:cNvSpPr/>
          <p:nvPr/>
        </p:nvSpPr>
        <p:spPr>
          <a:xfrm>
            <a:off x="10535399" y="7274823"/>
            <a:ext cx="794741" cy="0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9173324" y="4554055"/>
            <a:ext cx="1190625" cy="1301230"/>
          </a:xfrm>
          <a:custGeom>
            <a:avLst/>
            <a:gdLst/>
            <a:ahLst/>
            <a:cxnLst/>
            <a:rect r="r" b="b" t="t" l="l"/>
            <a:pathLst>
              <a:path h="1301230" w="1190625">
                <a:moveTo>
                  <a:pt x="0" y="0"/>
                </a:moveTo>
                <a:lnTo>
                  <a:pt x="1190625" y="0"/>
                </a:lnTo>
                <a:lnTo>
                  <a:pt x="1190625" y="1301229"/>
                </a:lnTo>
                <a:lnTo>
                  <a:pt x="0" y="13012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8" id="38"/>
          <p:cNvSpPr/>
          <p:nvPr/>
        </p:nvSpPr>
        <p:spPr>
          <a:xfrm>
            <a:off x="10535399" y="5223719"/>
            <a:ext cx="794741" cy="0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8273889" y="5242769"/>
            <a:ext cx="794741" cy="0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arrow" len="sm" w="med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1625415" y="6618961"/>
            <a:ext cx="1001653" cy="1027337"/>
          </a:xfrm>
          <a:custGeom>
            <a:avLst/>
            <a:gdLst/>
            <a:ahLst/>
            <a:cxnLst/>
            <a:rect r="r" b="b" t="t" l="l"/>
            <a:pathLst>
              <a:path h="1027337" w="1001653">
                <a:moveTo>
                  <a:pt x="0" y="0"/>
                </a:moveTo>
                <a:lnTo>
                  <a:pt x="1001654" y="0"/>
                </a:lnTo>
                <a:lnTo>
                  <a:pt x="1001654" y="1027337"/>
                </a:lnTo>
                <a:lnTo>
                  <a:pt x="0" y="10273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8570036" y="8084933"/>
            <a:ext cx="2472908" cy="904875"/>
            <a:chOff x="0" y="0"/>
            <a:chExt cx="2419205" cy="8852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19204" cy="885224"/>
            </a:xfrm>
            <a:custGeom>
              <a:avLst/>
              <a:gdLst/>
              <a:ahLst/>
              <a:cxnLst/>
              <a:rect r="r" b="b" t="t" l="l"/>
              <a:pathLst>
                <a:path h="885224" w="2419204">
                  <a:moveTo>
                    <a:pt x="1209602" y="0"/>
                  </a:moveTo>
                  <a:lnTo>
                    <a:pt x="2419204" y="885224"/>
                  </a:lnTo>
                  <a:lnTo>
                    <a:pt x="0" y="885224"/>
                  </a:lnTo>
                  <a:lnTo>
                    <a:pt x="1209602" y="0"/>
                  </a:lnTo>
                  <a:close/>
                </a:path>
              </a:pathLst>
            </a:custGeom>
            <a:solidFill>
              <a:srgbClr val="BFD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378001" y="401472"/>
              <a:ext cx="1663203" cy="420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99964" y="8441753"/>
            <a:ext cx="5813051" cy="1223639"/>
            <a:chOff x="0" y="0"/>
            <a:chExt cx="1576261" cy="3318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76261" cy="331801"/>
            </a:xfrm>
            <a:custGeom>
              <a:avLst/>
              <a:gdLst/>
              <a:ahLst/>
              <a:cxnLst/>
              <a:rect r="r" b="b" t="t" l="l"/>
              <a:pathLst>
                <a:path h="331801" w="1576261">
                  <a:moveTo>
                    <a:pt x="26012" y="0"/>
                  </a:moveTo>
                  <a:lnTo>
                    <a:pt x="1550248" y="0"/>
                  </a:lnTo>
                  <a:cubicBezTo>
                    <a:pt x="1557147" y="0"/>
                    <a:pt x="1563764" y="2741"/>
                    <a:pt x="1568642" y="7619"/>
                  </a:cubicBezTo>
                  <a:cubicBezTo>
                    <a:pt x="1573520" y="12497"/>
                    <a:pt x="1576261" y="19113"/>
                    <a:pt x="1576261" y="26012"/>
                  </a:cubicBezTo>
                  <a:lnTo>
                    <a:pt x="1576261" y="305789"/>
                  </a:lnTo>
                  <a:cubicBezTo>
                    <a:pt x="1576261" y="312687"/>
                    <a:pt x="1573520" y="319304"/>
                    <a:pt x="1568642" y="324182"/>
                  </a:cubicBezTo>
                  <a:cubicBezTo>
                    <a:pt x="1563764" y="329060"/>
                    <a:pt x="1557147" y="331801"/>
                    <a:pt x="1550248" y="331801"/>
                  </a:cubicBezTo>
                  <a:lnTo>
                    <a:pt x="26012" y="331801"/>
                  </a:lnTo>
                  <a:cubicBezTo>
                    <a:pt x="19113" y="331801"/>
                    <a:pt x="12497" y="329060"/>
                    <a:pt x="7619" y="324182"/>
                  </a:cubicBezTo>
                  <a:cubicBezTo>
                    <a:pt x="2741" y="319304"/>
                    <a:pt x="0" y="312687"/>
                    <a:pt x="0" y="305789"/>
                  </a:cubicBezTo>
                  <a:lnTo>
                    <a:pt x="0" y="26012"/>
                  </a:lnTo>
                  <a:cubicBezTo>
                    <a:pt x="0" y="19113"/>
                    <a:pt x="2741" y="12497"/>
                    <a:pt x="7619" y="7619"/>
                  </a:cubicBezTo>
                  <a:cubicBezTo>
                    <a:pt x="12497" y="2741"/>
                    <a:pt x="19113" y="0"/>
                    <a:pt x="26012" y="0"/>
                  </a:cubicBezTo>
                  <a:close/>
                </a:path>
              </a:pathLst>
            </a:custGeom>
            <a:solidFill>
              <a:srgbClr val="BFD2F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576261" cy="341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>
            <a:off x="13038082" y="2376262"/>
            <a:ext cx="0" cy="73081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3228582" y="2251901"/>
            <a:ext cx="4756687" cy="7401760"/>
            <a:chOff x="0" y="0"/>
            <a:chExt cx="1252790" cy="19494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2790" cy="1949435"/>
            </a:xfrm>
            <a:custGeom>
              <a:avLst/>
              <a:gdLst/>
              <a:ahLst/>
              <a:cxnLst/>
              <a:rect r="r" b="b" t="t" l="l"/>
              <a:pathLst>
                <a:path h="1949435" w="1252790">
                  <a:moveTo>
                    <a:pt x="32552" y="0"/>
                  </a:moveTo>
                  <a:lnTo>
                    <a:pt x="1220238" y="0"/>
                  </a:lnTo>
                  <a:cubicBezTo>
                    <a:pt x="1228872" y="0"/>
                    <a:pt x="1237151" y="3430"/>
                    <a:pt x="1243256" y="9534"/>
                  </a:cubicBezTo>
                  <a:cubicBezTo>
                    <a:pt x="1249360" y="15639"/>
                    <a:pt x="1252790" y="23918"/>
                    <a:pt x="1252790" y="32552"/>
                  </a:cubicBezTo>
                  <a:lnTo>
                    <a:pt x="1252790" y="1916883"/>
                  </a:lnTo>
                  <a:cubicBezTo>
                    <a:pt x="1252790" y="1925516"/>
                    <a:pt x="1249360" y="1933796"/>
                    <a:pt x="1243256" y="1939901"/>
                  </a:cubicBezTo>
                  <a:cubicBezTo>
                    <a:pt x="1237151" y="1946005"/>
                    <a:pt x="1228872" y="1949435"/>
                    <a:pt x="1220238" y="1949435"/>
                  </a:cubicBezTo>
                  <a:lnTo>
                    <a:pt x="32552" y="1949435"/>
                  </a:lnTo>
                  <a:cubicBezTo>
                    <a:pt x="23918" y="1949435"/>
                    <a:pt x="15639" y="1946005"/>
                    <a:pt x="9534" y="1939901"/>
                  </a:cubicBezTo>
                  <a:cubicBezTo>
                    <a:pt x="3430" y="1933796"/>
                    <a:pt x="0" y="1925516"/>
                    <a:pt x="0" y="1916883"/>
                  </a:cubicBezTo>
                  <a:lnTo>
                    <a:pt x="0" y="32552"/>
                  </a:lnTo>
                  <a:cubicBezTo>
                    <a:pt x="0" y="23918"/>
                    <a:pt x="3430" y="15639"/>
                    <a:pt x="9534" y="9534"/>
                  </a:cubicBezTo>
                  <a:cubicBezTo>
                    <a:pt x="15639" y="3430"/>
                    <a:pt x="23918" y="0"/>
                    <a:pt x="32552" y="0"/>
                  </a:cubicBezTo>
                  <a:close/>
                </a:path>
              </a:pathLst>
            </a:custGeom>
            <a:solidFill>
              <a:srgbClr val="BFD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252790" cy="1958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1187339" y="2921498"/>
            <a:ext cx="1236734" cy="791510"/>
          </a:xfrm>
          <a:custGeom>
            <a:avLst/>
            <a:gdLst/>
            <a:ahLst/>
            <a:cxnLst/>
            <a:rect r="r" b="b" t="t" l="l"/>
            <a:pathLst>
              <a:path h="791510" w="1236734">
                <a:moveTo>
                  <a:pt x="0" y="0"/>
                </a:moveTo>
                <a:lnTo>
                  <a:pt x="1236734" y="0"/>
                </a:lnTo>
                <a:lnTo>
                  <a:pt x="1236734" y="791510"/>
                </a:lnTo>
                <a:lnTo>
                  <a:pt x="0" y="79151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-982850">
            <a:off x="6574832" y="5308426"/>
            <a:ext cx="808517" cy="1443781"/>
          </a:xfrm>
          <a:custGeom>
            <a:avLst/>
            <a:gdLst/>
            <a:ahLst/>
            <a:cxnLst/>
            <a:rect r="r" b="b" t="t" l="l"/>
            <a:pathLst>
              <a:path h="1443781" w="808517">
                <a:moveTo>
                  <a:pt x="0" y="0"/>
                </a:moveTo>
                <a:lnTo>
                  <a:pt x="808518" y="0"/>
                </a:lnTo>
                <a:lnTo>
                  <a:pt x="808518" y="1443781"/>
                </a:lnTo>
                <a:lnTo>
                  <a:pt x="0" y="14437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3255669" y="5974725"/>
            <a:ext cx="4729600" cy="873945"/>
            <a:chOff x="0" y="0"/>
            <a:chExt cx="1245656" cy="23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45656" cy="230175"/>
            </a:xfrm>
            <a:custGeom>
              <a:avLst/>
              <a:gdLst/>
              <a:ahLst/>
              <a:cxnLst/>
              <a:rect r="r" b="b" t="t" l="l"/>
              <a:pathLst>
                <a:path h="230175" w="1245656">
                  <a:moveTo>
                    <a:pt x="83482" y="0"/>
                  </a:moveTo>
                  <a:lnTo>
                    <a:pt x="1162174" y="0"/>
                  </a:lnTo>
                  <a:cubicBezTo>
                    <a:pt x="1208280" y="0"/>
                    <a:pt x="1245656" y="37376"/>
                    <a:pt x="1245656" y="83482"/>
                  </a:cubicBezTo>
                  <a:lnTo>
                    <a:pt x="1245656" y="146693"/>
                  </a:lnTo>
                  <a:cubicBezTo>
                    <a:pt x="1245656" y="192799"/>
                    <a:pt x="1208280" y="230175"/>
                    <a:pt x="1162174" y="230175"/>
                  </a:cubicBezTo>
                  <a:lnTo>
                    <a:pt x="83482" y="230175"/>
                  </a:lnTo>
                  <a:cubicBezTo>
                    <a:pt x="37376" y="230175"/>
                    <a:pt x="0" y="192799"/>
                    <a:pt x="0" y="146693"/>
                  </a:cubicBezTo>
                  <a:lnTo>
                    <a:pt x="0" y="83482"/>
                  </a:lnTo>
                  <a:cubicBezTo>
                    <a:pt x="0" y="37376"/>
                    <a:pt x="37376" y="0"/>
                    <a:pt x="834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245656" cy="2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3664958" y="6145429"/>
            <a:ext cx="378101" cy="532537"/>
          </a:xfrm>
          <a:custGeom>
            <a:avLst/>
            <a:gdLst/>
            <a:ahLst/>
            <a:cxnLst/>
            <a:rect r="r" b="b" t="t" l="l"/>
            <a:pathLst>
              <a:path h="532537" w="378101">
                <a:moveTo>
                  <a:pt x="0" y="0"/>
                </a:moveTo>
                <a:lnTo>
                  <a:pt x="378101" y="0"/>
                </a:lnTo>
                <a:lnTo>
                  <a:pt x="378101" y="532537"/>
                </a:lnTo>
                <a:lnTo>
                  <a:pt x="0" y="53253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3238107" y="7931784"/>
            <a:ext cx="4729600" cy="873945"/>
            <a:chOff x="0" y="0"/>
            <a:chExt cx="1245656" cy="2301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45656" cy="230175"/>
            </a:xfrm>
            <a:custGeom>
              <a:avLst/>
              <a:gdLst/>
              <a:ahLst/>
              <a:cxnLst/>
              <a:rect r="r" b="b" t="t" l="l"/>
              <a:pathLst>
                <a:path h="230175" w="1245656">
                  <a:moveTo>
                    <a:pt x="83482" y="0"/>
                  </a:moveTo>
                  <a:lnTo>
                    <a:pt x="1162174" y="0"/>
                  </a:lnTo>
                  <a:cubicBezTo>
                    <a:pt x="1208280" y="0"/>
                    <a:pt x="1245656" y="37376"/>
                    <a:pt x="1245656" y="83482"/>
                  </a:cubicBezTo>
                  <a:lnTo>
                    <a:pt x="1245656" y="146693"/>
                  </a:lnTo>
                  <a:cubicBezTo>
                    <a:pt x="1245656" y="192799"/>
                    <a:pt x="1208280" y="230175"/>
                    <a:pt x="1162174" y="230175"/>
                  </a:cubicBezTo>
                  <a:lnTo>
                    <a:pt x="83482" y="230175"/>
                  </a:lnTo>
                  <a:cubicBezTo>
                    <a:pt x="37376" y="230175"/>
                    <a:pt x="0" y="192799"/>
                    <a:pt x="0" y="146693"/>
                  </a:cubicBezTo>
                  <a:lnTo>
                    <a:pt x="0" y="83482"/>
                  </a:lnTo>
                  <a:cubicBezTo>
                    <a:pt x="0" y="37376"/>
                    <a:pt x="37376" y="0"/>
                    <a:pt x="834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245656" cy="2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3504705" y="8117301"/>
            <a:ext cx="590593" cy="472475"/>
          </a:xfrm>
          <a:custGeom>
            <a:avLst/>
            <a:gdLst/>
            <a:ahLst/>
            <a:cxnLst/>
            <a:rect r="r" b="b" t="t" l="l"/>
            <a:pathLst>
              <a:path h="472475" w="590593">
                <a:moveTo>
                  <a:pt x="0" y="0"/>
                </a:moveTo>
                <a:lnTo>
                  <a:pt x="590593" y="0"/>
                </a:lnTo>
                <a:lnTo>
                  <a:pt x="590593" y="472474"/>
                </a:lnTo>
                <a:lnTo>
                  <a:pt x="0" y="47247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3238107" y="6991545"/>
            <a:ext cx="4729600" cy="873945"/>
            <a:chOff x="0" y="0"/>
            <a:chExt cx="1245656" cy="2301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45656" cy="230175"/>
            </a:xfrm>
            <a:custGeom>
              <a:avLst/>
              <a:gdLst/>
              <a:ahLst/>
              <a:cxnLst/>
              <a:rect r="r" b="b" t="t" l="l"/>
              <a:pathLst>
                <a:path h="230175" w="1245656">
                  <a:moveTo>
                    <a:pt x="83482" y="0"/>
                  </a:moveTo>
                  <a:lnTo>
                    <a:pt x="1162174" y="0"/>
                  </a:lnTo>
                  <a:cubicBezTo>
                    <a:pt x="1208280" y="0"/>
                    <a:pt x="1245656" y="37376"/>
                    <a:pt x="1245656" y="83482"/>
                  </a:cubicBezTo>
                  <a:lnTo>
                    <a:pt x="1245656" y="146693"/>
                  </a:lnTo>
                  <a:cubicBezTo>
                    <a:pt x="1245656" y="192799"/>
                    <a:pt x="1208280" y="230175"/>
                    <a:pt x="1162174" y="230175"/>
                  </a:cubicBezTo>
                  <a:lnTo>
                    <a:pt x="83482" y="230175"/>
                  </a:lnTo>
                  <a:cubicBezTo>
                    <a:pt x="37376" y="230175"/>
                    <a:pt x="0" y="192799"/>
                    <a:pt x="0" y="146693"/>
                  </a:cubicBezTo>
                  <a:lnTo>
                    <a:pt x="0" y="83482"/>
                  </a:lnTo>
                  <a:cubicBezTo>
                    <a:pt x="0" y="37376"/>
                    <a:pt x="37376" y="0"/>
                    <a:pt x="834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245656" cy="2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3504705" y="7170796"/>
            <a:ext cx="533340" cy="528007"/>
          </a:xfrm>
          <a:custGeom>
            <a:avLst/>
            <a:gdLst/>
            <a:ahLst/>
            <a:cxnLst/>
            <a:rect r="r" b="b" t="t" l="l"/>
            <a:pathLst>
              <a:path h="528007" w="533340">
                <a:moveTo>
                  <a:pt x="0" y="0"/>
                </a:moveTo>
                <a:lnTo>
                  <a:pt x="533340" y="0"/>
                </a:lnTo>
                <a:lnTo>
                  <a:pt x="533340" y="528007"/>
                </a:lnTo>
                <a:lnTo>
                  <a:pt x="0" y="52800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1212759" y="3822425"/>
            <a:ext cx="125313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spc="-1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REVIEWS</a:t>
            </a:r>
          </a:p>
        </p:txBody>
      </p:sp>
      <p:sp>
        <p:nvSpPr>
          <p:cNvPr name="Freeform 66" id="66"/>
          <p:cNvSpPr/>
          <p:nvPr/>
        </p:nvSpPr>
        <p:spPr>
          <a:xfrm flipH="true" flipV="false" rot="1359802">
            <a:off x="12148581" y="3641861"/>
            <a:ext cx="808517" cy="1443781"/>
          </a:xfrm>
          <a:custGeom>
            <a:avLst/>
            <a:gdLst/>
            <a:ahLst/>
            <a:cxnLst/>
            <a:rect r="r" b="b" t="t" l="l"/>
            <a:pathLst>
              <a:path h="1443781" w="808517">
                <a:moveTo>
                  <a:pt x="808517" y="0"/>
                </a:moveTo>
                <a:lnTo>
                  <a:pt x="0" y="0"/>
                </a:lnTo>
                <a:lnTo>
                  <a:pt x="0" y="1443781"/>
                </a:lnTo>
                <a:lnTo>
                  <a:pt x="808517" y="1443781"/>
                </a:lnTo>
                <a:lnTo>
                  <a:pt x="808517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3238107" y="4957905"/>
            <a:ext cx="4729600" cy="873945"/>
            <a:chOff x="0" y="0"/>
            <a:chExt cx="1245656" cy="23017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45656" cy="230175"/>
            </a:xfrm>
            <a:custGeom>
              <a:avLst/>
              <a:gdLst/>
              <a:ahLst/>
              <a:cxnLst/>
              <a:rect r="r" b="b" t="t" l="l"/>
              <a:pathLst>
                <a:path h="230175" w="1245656">
                  <a:moveTo>
                    <a:pt x="83482" y="0"/>
                  </a:moveTo>
                  <a:lnTo>
                    <a:pt x="1162174" y="0"/>
                  </a:lnTo>
                  <a:cubicBezTo>
                    <a:pt x="1208280" y="0"/>
                    <a:pt x="1245656" y="37376"/>
                    <a:pt x="1245656" y="83482"/>
                  </a:cubicBezTo>
                  <a:lnTo>
                    <a:pt x="1245656" y="146693"/>
                  </a:lnTo>
                  <a:cubicBezTo>
                    <a:pt x="1245656" y="192799"/>
                    <a:pt x="1208280" y="230175"/>
                    <a:pt x="1162174" y="230175"/>
                  </a:cubicBezTo>
                  <a:lnTo>
                    <a:pt x="83482" y="230175"/>
                  </a:lnTo>
                  <a:cubicBezTo>
                    <a:pt x="37376" y="230175"/>
                    <a:pt x="0" y="192799"/>
                    <a:pt x="0" y="146693"/>
                  </a:cubicBezTo>
                  <a:lnTo>
                    <a:pt x="0" y="83482"/>
                  </a:lnTo>
                  <a:cubicBezTo>
                    <a:pt x="0" y="37376"/>
                    <a:pt x="37376" y="0"/>
                    <a:pt x="834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245656" cy="2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3433947" y="5054245"/>
            <a:ext cx="732107" cy="644254"/>
          </a:xfrm>
          <a:custGeom>
            <a:avLst/>
            <a:gdLst/>
            <a:ahLst/>
            <a:cxnLst/>
            <a:rect r="r" b="b" t="t" l="l"/>
            <a:pathLst>
              <a:path h="644254" w="732107">
                <a:moveTo>
                  <a:pt x="0" y="0"/>
                </a:moveTo>
                <a:lnTo>
                  <a:pt x="732108" y="0"/>
                </a:lnTo>
                <a:lnTo>
                  <a:pt x="732108" y="644255"/>
                </a:lnTo>
                <a:lnTo>
                  <a:pt x="0" y="64425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true" flipV="false" rot="0">
            <a:off x="13365965" y="3261985"/>
            <a:ext cx="771741" cy="771741"/>
          </a:xfrm>
          <a:custGeom>
            <a:avLst/>
            <a:gdLst/>
            <a:ahLst/>
            <a:cxnLst/>
            <a:rect r="r" b="b" t="t" l="l"/>
            <a:pathLst>
              <a:path h="771741" w="771741">
                <a:moveTo>
                  <a:pt x="771741" y="0"/>
                </a:moveTo>
                <a:lnTo>
                  <a:pt x="0" y="0"/>
                </a:lnTo>
                <a:lnTo>
                  <a:pt x="0" y="771741"/>
                </a:lnTo>
                <a:lnTo>
                  <a:pt x="771741" y="771741"/>
                </a:lnTo>
                <a:lnTo>
                  <a:pt x="771741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4395484" y="3170031"/>
            <a:ext cx="952138" cy="914053"/>
          </a:xfrm>
          <a:custGeom>
            <a:avLst/>
            <a:gdLst/>
            <a:ahLst/>
            <a:cxnLst/>
            <a:rect r="r" b="b" t="t" l="l"/>
            <a:pathLst>
              <a:path h="914053" w="952138">
                <a:moveTo>
                  <a:pt x="0" y="0"/>
                </a:moveTo>
                <a:lnTo>
                  <a:pt x="952139" y="0"/>
                </a:lnTo>
                <a:lnTo>
                  <a:pt x="952139" y="914053"/>
                </a:lnTo>
                <a:lnTo>
                  <a:pt x="0" y="914053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5720324" y="3211628"/>
            <a:ext cx="943196" cy="872456"/>
          </a:xfrm>
          <a:custGeom>
            <a:avLst/>
            <a:gdLst/>
            <a:ahLst/>
            <a:cxnLst/>
            <a:rect r="r" b="b" t="t" l="l"/>
            <a:pathLst>
              <a:path h="872456" w="943196">
                <a:moveTo>
                  <a:pt x="0" y="0"/>
                </a:moveTo>
                <a:lnTo>
                  <a:pt x="943196" y="0"/>
                </a:lnTo>
                <a:lnTo>
                  <a:pt x="943196" y="872456"/>
                </a:lnTo>
                <a:lnTo>
                  <a:pt x="0" y="87245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-6404330">
            <a:off x="15246118" y="3945413"/>
            <a:ext cx="621724" cy="1110221"/>
          </a:xfrm>
          <a:custGeom>
            <a:avLst/>
            <a:gdLst/>
            <a:ahLst/>
            <a:cxnLst/>
            <a:rect r="r" b="b" t="t" l="l"/>
            <a:pathLst>
              <a:path h="1110221" w="621724">
                <a:moveTo>
                  <a:pt x="0" y="0"/>
                </a:moveTo>
                <a:lnTo>
                  <a:pt x="621724" y="0"/>
                </a:lnTo>
                <a:lnTo>
                  <a:pt x="621724" y="1110221"/>
                </a:lnTo>
                <a:lnTo>
                  <a:pt x="0" y="111022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true" flipV="false" rot="-4516182">
            <a:off x="14007810" y="2580187"/>
            <a:ext cx="622582" cy="1111753"/>
          </a:xfrm>
          <a:custGeom>
            <a:avLst/>
            <a:gdLst/>
            <a:ahLst/>
            <a:cxnLst/>
            <a:rect r="r" b="b" t="t" l="l"/>
            <a:pathLst>
              <a:path h="1111753" w="622582">
                <a:moveTo>
                  <a:pt x="622582" y="0"/>
                </a:moveTo>
                <a:lnTo>
                  <a:pt x="0" y="0"/>
                </a:lnTo>
                <a:lnTo>
                  <a:pt x="0" y="1111754"/>
                </a:lnTo>
                <a:lnTo>
                  <a:pt x="622582" y="1111754"/>
                </a:lnTo>
                <a:lnTo>
                  <a:pt x="622582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true" flipV="false" rot="-4711707">
            <a:off x="16468519" y="2570332"/>
            <a:ext cx="622582" cy="1111753"/>
          </a:xfrm>
          <a:custGeom>
            <a:avLst/>
            <a:gdLst/>
            <a:ahLst/>
            <a:cxnLst/>
            <a:rect r="r" b="b" t="t" l="l"/>
            <a:pathLst>
              <a:path h="1111753" w="622582">
                <a:moveTo>
                  <a:pt x="622582" y="0"/>
                </a:moveTo>
                <a:lnTo>
                  <a:pt x="0" y="0"/>
                </a:lnTo>
                <a:lnTo>
                  <a:pt x="0" y="1111753"/>
                </a:lnTo>
                <a:lnTo>
                  <a:pt x="622582" y="1111753"/>
                </a:lnTo>
                <a:lnTo>
                  <a:pt x="622582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7034995" y="3211628"/>
            <a:ext cx="715420" cy="777631"/>
          </a:xfrm>
          <a:custGeom>
            <a:avLst/>
            <a:gdLst/>
            <a:ahLst/>
            <a:cxnLst/>
            <a:rect r="r" b="b" t="t" l="l"/>
            <a:pathLst>
              <a:path h="777631" w="715420">
                <a:moveTo>
                  <a:pt x="0" y="0"/>
                </a:moveTo>
                <a:lnTo>
                  <a:pt x="715420" y="0"/>
                </a:lnTo>
                <a:lnTo>
                  <a:pt x="715420" y="777630"/>
                </a:lnTo>
                <a:lnTo>
                  <a:pt x="0" y="77763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 descr="$PPTXTitle"/>
          <p:cNvSpPr txBox="true"/>
          <p:nvPr/>
        </p:nvSpPr>
        <p:spPr>
          <a:xfrm rot="0">
            <a:off x="4687091" y="95250"/>
            <a:ext cx="8914686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 spc="-408">
                <a:solidFill>
                  <a:srgbClr val="394876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Existing Solutions and The Gap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9133" y="1019175"/>
            <a:ext cx="1623060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9"/>
              </a:lnSpc>
              <a:spcBef>
                <a:spcPct val="0"/>
              </a:spcBef>
            </a:pPr>
            <a:r>
              <a:rPr lang="en-US" b="true" sz="3307" spc="-224">
                <a:solidFill>
                  <a:srgbClr val="394876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Great Platforms Exist - But The Journey Is Fragmented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01101" y="1708976"/>
            <a:ext cx="52313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9"/>
              </a:lnSpc>
              <a:spcBef>
                <a:spcPct val="0"/>
              </a:spcBef>
            </a:pPr>
            <a:r>
              <a:rPr lang="en-US" sz="3549" spc="-2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Today’s Landscape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65982" y="9027908"/>
            <a:ext cx="4721672" cy="57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1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Limitations:Fragmented and difficult to access at scale 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82697" y="6941448"/>
            <a:ext cx="48019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spc="-17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Social Media: Travel Inspiration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763985" y="7312923"/>
            <a:ext cx="4420693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spc="-1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Limitation:Unstructured content and difficult planning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763985" y="5658955"/>
            <a:ext cx="459899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Limitation:Limited Coverage of the Broader Local Ecosytem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600205" y="3877780"/>
            <a:ext cx="471404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spc="-17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TripAdvisor:Reviews &amp; Attractions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682358" y="4211155"/>
            <a:ext cx="487824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1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Limitation:Primarily Review-Centric Discovery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63501" y="2279028"/>
            <a:ext cx="573414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spc="-17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Google Maps:Places and Navigation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697389" y="2640978"/>
            <a:ext cx="473219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17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Limitations: Limited experience personalization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919635" y="3998637"/>
            <a:ext cx="110180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spc="-1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SEARCH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069323" y="5864809"/>
            <a:ext cx="176057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spc="-1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INSPIRATION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388597" y="7698803"/>
            <a:ext cx="112109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spc="-1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PLAN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6960730" y="7698803"/>
            <a:ext cx="151982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spc="-18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BOOKING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947712" y="8508428"/>
            <a:ext cx="571755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spc="-1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THE GAP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797643" y="8826500"/>
            <a:ext cx="582768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spc="-1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Users Switch Across Multiple Platforms to Build One Complete Experience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8141470" y="1744040"/>
            <a:ext cx="301637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6"/>
              </a:lnSpc>
              <a:spcBef>
                <a:spcPct val="0"/>
              </a:spcBef>
            </a:pPr>
            <a:r>
              <a:rPr lang="en-US" sz="3547" spc="-2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THE GAP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517494" y="1699451"/>
            <a:ext cx="220551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9"/>
              </a:lnSpc>
              <a:spcBef>
                <a:spcPct val="0"/>
              </a:spcBef>
            </a:pPr>
            <a:r>
              <a:rPr lang="en-US" sz="3549" spc="-29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OUR EDGE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238545" y="8939079"/>
            <a:ext cx="472916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  <a:spcBef>
                <a:spcPct val="0"/>
              </a:spcBef>
            </a:pPr>
            <a:r>
              <a:rPr lang="en-US" b="true" sz="2373" spc="-19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ONE PLATFORM.ONE JOURNEY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854009" y="6040222"/>
            <a:ext cx="353248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spc="-1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Local and Hidden Experiences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800001" y="7055066"/>
            <a:ext cx="397112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spc="-1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Context Aware Recommendations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095298" y="7982063"/>
            <a:ext cx="352308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spc="-1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End to End Experience Planning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228582" y="5204377"/>
            <a:ext cx="52313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spc="-19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Personalized Discovery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365965" y="4026141"/>
            <a:ext cx="8416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15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Search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4346393" y="4026141"/>
            <a:ext cx="131564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15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Personalize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5720324" y="4026141"/>
            <a:ext cx="94319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15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Plan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6756964" y="4026141"/>
            <a:ext cx="127148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-15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Experience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3204040" y="2295136"/>
            <a:ext cx="49337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3456" spc="-2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OUR PLATFORM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4EBF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435938" y="1683839"/>
            <a:ext cx="2225040" cy="805177"/>
          </a:xfrm>
          <a:custGeom>
            <a:avLst/>
            <a:gdLst/>
            <a:ahLst/>
            <a:cxnLst/>
            <a:rect r="r" b="b" t="t" l="l"/>
            <a:pathLst>
              <a:path h="805177" w="2225040">
                <a:moveTo>
                  <a:pt x="0" y="0"/>
                </a:moveTo>
                <a:lnTo>
                  <a:pt x="2225040" y="0"/>
                </a:lnTo>
                <a:lnTo>
                  <a:pt x="2225040" y="805177"/>
                </a:lnTo>
                <a:lnTo>
                  <a:pt x="0" y="80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85750" y="3048000"/>
            <a:ext cx="8573767" cy="6096000"/>
            <a:chOff x="0" y="0"/>
            <a:chExt cx="11431689" cy="812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381" cy="8128000"/>
            </a:xfrm>
            <a:custGeom>
              <a:avLst/>
              <a:gdLst/>
              <a:ahLst/>
              <a:cxnLst/>
              <a:rect r="r" b="b" t="t" l="l"/>
              <a:pathLst>
                <a:path h="8128000" w="11430381">
                  <a:moveTo>
                    <a:pt x="11125581" y="8128000"/>
                  </a:moveTo>
                  <a:lnTo>
                    <a:pt x="304800" y="8128000"/>
                  </a:lnTo>
                  <a:lnTo>
                    <a:pt x="186182" y="8103997"/>
                  </a:lnTo>
                  <a:lnTo>
                    <a:pt x="89281" y="8038719"/>
                  </a:lnTo>
                  <a:lnTo>
                    <a:pt x="24003" y="7941818"/>
                  </a:lnTo>
                  <a:lnTo>
                    <a:pt x="0" y="7823200"/>
                  </a:lnTo>
                  <a:lnTo>
                    <a:pt x="0" y="304800"/>
                  </a:lnTo>
                  <a:lnTo>
                    <a:pt x="24003" y="186182"/>
                  </a:lnTo>
                  <a:lnTo>
                    <a:pt x="89281" y="89281"/>
                  </a:lnTo>
                  <a:lnTo>
                    <a:pt x="186182" y="24003"/>
                  </a:lnTo>
                  <a:lnTo>
                    <a:pt x="304800" y="0"/>
                  </a:lnTo>
                  <a:lnTo>
                    <a:pt x="11125581" y="0"/>
                  </a:lnTo>
                  <a:lnTo>
                    <a:pt x="11242167" y="23241"/>
                  </a:lnTo>
                  <a:lnTo>
                    <a:pt x="11341100" y="89281"/>
                  </a:lnTo>
                  <a:lnTo>
                    <a:pt x="11407140" y="188214"/>
                  </a:lnTo>
                  <a:lnTo>
                    <a:pt x="11430381" y="304800"/>
                  </a:lnTo>
                  <a:lnTo>
                    <a:pt x="11430381" y="7823200"/>
                  </a:lnTo>
                  <a:lnTo>
                    <a:pt x="11406378" y="7941818"/>
                  </a:lnTo>
                  <a:lnTo>
                    <a:pt x="11341100" y="8038719"/>
                  </a:lnTo>
                  <a:lnTo>
                    <a:pt x="11244200" y="8103997"/>
                  </a:lnTo>
                  <a:lnTo>
                    <a:pt x="11125581" y="812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71453" y="3033703"/>
            <a:ext cx="8602370" cy="6124594"/>
          </a:xfrm>
          <a:custGeom>
            <a:avLst/>
            <a:gdLst/>
            <a:ahLst/>
            <a:cxnLst/>
            <a:rect r="r" b="b" t="t" l="l"/>
            <a:pathLst>
              <a:path h="6124594" w="8602370">
                <a:moveTo>
                  <a:pt x="0" y="0"/>
                </a:moveTo>
                <a:lnTo>
                  <a:pt x="8602370" y="0"/>
                </a:lnTo>
                <a:lnTo>
                  <a:pt x="8602370" y="6124594"/>
                </a:lnTo>
                <a:lnTo>
                  <a:pt x="0" y="612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85750" y="3048000"/>
            <a:ext cx="115567" cy="6096000"/>
            <a:chOff x="0" y="0"/>
            <a:chExt cx="154089" cy="812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781" cy="8128000"/>
            </a:xfrm>
            <a:custGeom>
              <a:avLst/>
              <a:gdLst/>
              <a:ahLst/>
              <a:cxnLst/>
              <a:rect r="r" b="b" t="t" l="l"/>
              <a:pathLst>
                <a:path h="8128000" w="152781">
                  <a:moveTo>
                    <a:pt x="76454" y="8128000"/>
                  </a:moveTo>
                  <a:lnTo>
                    <a:pt x="46736" y="8122031"/>
                  </a:lnTo>
                  <a:lnTo>
                    <a:pt x="22479" y="8105648"/>
                  </a:lnTo>
                  <a:lnTo>
                    <a:pt x="6096" y="8081391"/>
                  </a:lnTo>
                  <a:lnTo>
                    <a:pt x="0" y="8051546"/>
                  </a:lnTo>
                  <a:lnTo>
                    <a:pt x="0" y="76454"/>
                  </a:lnTo>
                  <a:lnTo>
                    <a:pt x="5969" y="46609"/>
                  </a:lnTo>
                  <a:lnTo>
                    <a:pt x="22352" y="22352"/>
                  </a:lnTo>
                  <a:lnTo>
                    <a:pt x="46609" y="5969"/>
                  </a:lnTo>
                  <a:lnTo>
                    <a:pt x="76454" y="0"/>
                  </a:lnTo>
                  <a:lnTo>
                    <a:pt x="96774" y="0"/>
                  </a:lnTo>
                  <a:lnTo>
                    <a:pt x="116078" y="8001"/>
                  </a:lnTo>
                  <a:lnTo>
                    <a:pt x="144780" y="36703"/>
                  </a:lnTo>
                  <a:lnTo>
                    <a:pt x="152781" y="56134"/>
                  </a:lnTo>
                  <a:lnTo>
                    <a:pt x="152781" y="8051546"/>
                  </a:lnTo>
                  <a:lnTo>
                    <a:pt x="146812" y="8081264"/>
                  </a:lnTo>
                  <a:lnTo>
                    <a:pt x="130429" y="8105521"/>
                  </a:lnTo>
                  <a:lnTo>
                    <a:pt x="106172" y="8121903"/>
                  </a:lnTo>
                  <a:lnTo>
                    <a:pt x="76454" y="8127873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50" y="3659124"/>
            <a:ext cx="762000" cy="762000"/>
            <a:chOff x="0" y="0"/>
            <a:chExt cx="1016000" cy="10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31847" y="4840700"/>
            <a:ext cx="708152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E293B"/>
                </a:solidFill>
                <a:latin typeface="Tahoma Bold"/>
                <a:ea typeface="Tahoma Bold"/>
                <a:cs typeface="Tahoma Bold"/>
                <a:sym typeface="Tahoma Bold"/>
              </a:rPr>
              <a:t>Demo Video Link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31847" y="6086475"/>
            <a:ext cx="736599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9" u="sng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https://drive.google.com/drive/folders/1hWAMkA09VcqYzZ9ma5LkXpD_hoi2D99L?usp=sharing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0" y="3048000"/>
            <a:ext cx="8573767" cy="6096000"/>
            <a:chOff x="0" y="0"/>
            <a:chExt cx="11431689" cy="812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0381" cy="8128000"/>
            </a:xfrm>
            <a:custGeom>
              <a:avLst/>
              <a:gdLst/>
              <a:ahLst/>
              <a:cxnLst/>
              <a:rect r="r" b="b" t="t" l="l"/>
              <a:pathLst>
                <a:path h="8128000" w="11430381">
                  <a:moveTo>
                    <a:pt x="11125581" y="8128000"/>
                  </a:moveTo>
                  <a:lnTo>
                    <a:pt x="304800" y="8128000"/>
                  </a:lnTo>
                  <a:lnTo>
                    <a:pt x="186182" y="8103997"/>
                  </a:lnTo>
                  <a:lnTo>
                    <a:pt x="89281" y="8038719"/>
                  </a:lnTo>
                  <a:lnTo>
                    <a:pt x="24003" y="7941818"/>
                  </a:lnTo>
                  <a:lnTo>
                    <a:pt x="0" y="7823200"/>
                  </a:lnTo>
                  <a:lnTo>
                    <a:pt x="0" y="304800"/>
                  </a:lnTo>
                  <a:lnTo>
                    <a:pt x="24003" y="186182"/>
                  </a:lnTo>
                  <a:lnTo>
                    <a:pt x="89281" y="89281"/>
                  </a:lnTo>
                  <a:lnTo>
                    <a:pt x="186182" y="24003"/>
                  </a:lnTo>
                  <a:lnTo>
                    <a:pt x="304800" y="0"/>
                  </a:lnTo>
                  <a:lnTo>
                    <a:pt x="11125581" y="0"/>
                  </a:lnTo>
                  <a:lnTo>
                    <a:pt x="11242167" y="23241"/>
                  </a:lnTo>
                  <a:lnTo>
                    <a:pt x="11341100" y="89281"/>
                  </a:lnTo>
                  <a:lnTo>
                    <a:pt x="11407140" y="188214"/>
                  </a:lnTo>
                  <a:lnTo>
                    <a:pt x="11430381" y="304800"/>
                  </a:lnTo>
                  <a:lnTo>
                    <a:pt x="11430381" y="7823200"/>
                  </a:lnTo>
                  <a:lnTo>
                    <a:pt x="11406378" y="7941818"/>
                  </a:lnTo>
                  <a:lnTo>
                    <a:pt x="11341100" y="8038719"/>
                  </a:lnTo>
                  <a:lnTo>
                    <a:pt x="11244200" y="8103997"/>
                  </a:lnTo>
                  <a:lnTo>
                    <a:pt x="11125581" y="8128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6" id="16">
            <a:hlinkClick r:id="rId7" tooltip="https://github.com/BigSmok.../Experience-Platform.git"/>
          </p:cNvPr>
          <p:cNvSpPr/>
          <p:nvPr/>
        </p:nvSpPr>
        <p:spPr>
          <a:xfrm flipH="false" flipV="false" rot="0">
            <a:off x="9415453" y="3033703"/>
            <a:ext cx="8602370" cy="6124594"/>
          </a:xfrm>
          <a:custGeom>
            <a:avLst/>
            <a:gdLst/>
            <a:ahLst/>
            <a:cxnLst/>
            <a:rect r="r" b="b" t="t" l="l"/>
            <a:pathLst>
              <a:path h="6124594" w="8602370">
                <a:moveTo>
                  <a:pt x="0" y="0"/>
                </a:moveTo>
                <a:lnTo>
                  <a:pt x="8602370" y="0"/>
                </a:lnTo>
                <a:lnTo>
                  <a:pt x="8602370" y="6124594"/>
                </a:lnTo>
                <a:lnTo>
                  <a:pt x="0" y="612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429750" y="3048000"/>
            <a:ext cx="115567" cy="6096000"/>
            <a:chOff x="0" y="0"/>
            <a:chExt cx="154089" cy="812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781" cy="8128000"/>
            </a:xfrm>
            <a:custGeom>
              <a:avLst/>
              <a:gdLst/>
              <a:ahLst/>
              <a:cxnLst/>
              <a:rect r="r" b="b" t="t" l="l"/>
              <a:pathLst>
                <a:path h="8128000" w="152781">
                  <a:moveTo>
                    <a:pt x="76454" y="8128000"/>
                  </a:moveTo>
                  <a:lnTo>
                    <a:pt x="46736" y="8122031"/>
                  </a:lnTo>
                  <a:lnTo>
                    <a:pt x="22479" y="8105648"/>
                  </a:lnTo>
                  <a:lnTo>
                    <a:pt x="6096" y="8081391"/>
                  </a:lnTo>
                  <a:lnTo>
                    <a:pt x="0" y="8051546"/>
                  </a:lnTo>
                  <a:lnTo>
                    <a:pt x="0" y="76454"/>
                  </a:lnTo>
                  <a:lnTo>
                    <a:pt x="5969" y="46609"/>
                  </a:lnTo>
                  <a:lnTo>
                    <a:pt x="22352" y="22352"/>
                  </a:lnTo>
                  <a:lnTo>
                    <a:pt x="46609" y="5969"/>
                  </a:lnTo>
                  <a:lnTo>
                    <a:pt x="76454" y="0"/>
                  </a:lnTo>
                  <a:lnTo>
                    <a:pt x="96774" y="0"/>
                  </a:lnTo>
                  <a:lnTo>
                    <a:pt x="116078" y="8001"/>
                  </a:lnTo>
                  <a:lnTo>
                    <a:pt x="144780" y="36703"/>
                  </a:lnTo>
                  <a:lnTo>
                    <a:pt x="152781" y="56134"/>
                  </a:lnTo>
                  <a:lnTo>
                    <a:pt x="152781" y="8051546"/>
                  </a:lnTo>
                  <a:lnTo>
                    <a:pt x="146812" y="8081264"/>
                  </a:lnTo>
                  <a:lnTo>
                    <a:pt x="130429" y="8105521"/>
                  </a:lnTo>
                  <a:lnTo>
                    <a:pt x="106172" y="8121903"/>
                  </a:lnTo>
                  <a:lnTo>
                    <a:pt x="76454" y="8127873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077450" y="3659124"/>
            <a:ext cx="762000" cy="762000"/>
            <a:chOff x="0" y="0"/>
            <a:chExt cx="1016000" cy="101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75847" y="4840700"/>
            <a:ext cx="70789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 spc="-39">
                <a:solidFill>
                  <a:srgbClr val="1E293B"/>
                </a:solidFill>
                <a:latin typeface="Tahoma Bold"/>
                <a:ea typeface="Tahoma Bold"/>
                <a:cs typeface="Tahoma Bold"/>
                <a:sym typeface="Tahoma Bold"/>
              </a:rPr>
              <a:t>Live Website Link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439999" y="890054"/>
            <a:ext cx="15408907" cy="1153163"/>
            <a:chOff x="0" y="0"/>
            <a:chExt cx="20545209" cy="1537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544028" cy="1535938"/>
            </a:xfrm>
            <a:custGeom>
              <a:avLst/>
              <a:gdLst/>
              <a:ahLst/>
              <a:cxnLst/>
              <a:rect r="r" b="b" t="t" l="l"/>
              <a:pathLst>
                <a:path h="1535938" w="20544028">
                  <a:moveTo>
                    <a:pt x="20544028" y="1535938"/>
                  </a:moveTo>
                  <a:lnTo>
                    <a:pt x="0" y="1535938"/>
                  </a:lnTo>
                  <a:lnTo>
                    <a:pt x="0" y="0"/>
                  </a:lnTo>
                  <a:lnTo>
                    <a:pt x="20544028" y="0"/>
                  </a:lnTo>
                  <a:lnTo>
                    <a:pt x="20544028" y="1535938"/>
                  </a:lnTo>
                  <a:close/>
                </a:path>
              </a:pathLst>
            </a:custGeom>
            <a:solidFill>
              <a:srgbClr val="E4EBF7"/>
            </a:solidFill>
          </p:spPr>
        </p:sp>
      </p:grpSp>
      <p:sp>
        <p:nvSpPr>
          <p:cNvPr name="TextBox 24" id="24" descr="$PPTXTitle"/>
          <p:cNvSpPr txBox="true"/>
          <p:nvPr/>
        </p:nvSpPr>
        <p:spPr>
          <a:xfrm rot="0">
            <a:off x="1586046" y="1018318"/>
            <a:ext cx="1458721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400">
                <a:solidFill>
                  <a:srgbClr val="394876"/>
                </a:solidFill>
                <a:latin typeface="Verdana Bold"/>
                <a:ea typeface="Verdana Bold"/>
                <a:cs typeface="Verdana Bold"/>
                <a:sym typeface="Verdana Bold"/>
              </a:rPr>
              <a:t>Supplementary Information (Optional)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73942" y="5553287"/>
            <a:ext cx="761056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8"/>
              </a:lnSpc>
            </a:pPr>
            <a:r>
              <a:rPr lang="en-US" b="true" sz="2140" spc="-17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9" tooltip="https://github.com/BigSmokeweb/Experience-Platform"/>
              </a:rPr>
              <a:t>Github Link :</a:t>
            </a:r>
          </a:p>
          <a:p>
            <a:pPr algn="l">
              <a:lnSpc>
                <a:spcPts val="2568"/>
              </a:lnSpc>
            </a:pPr>
            <a:r>
              <a:rPr lang="en-US" sz="2140" spc="-17" u="sng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  <a:hlinkClick r:id="rId10" tooltip="https://github.com/BigSmokeweb/Experience-Platform"/>
              </a:rPr>
              <a:t>https://github.com/BigSmokeweb/Experience-Platform.git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75847" y="6683443"/>
            <a:ext cx="668513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b="true" sz="2365" spc="-18" u="sng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  <a:hlinkClick r:id="rId11" tooltip="https://experience-platform-sigma.vercel.app"/>
              </a:rPr>
              <a:t>Website Link :</a:t>
            </a:r>
          </a:p>
          <a:p>
            <a:pPr algn="l">
              <a:lnSpc>
                <a:spcPts val="2838"/>
              </a:lnSpc>
              <a:spcBef>
                <a:spcPct val="0"/>
              </a:spcBef>
            </a:pPr>
            <a:r>
              <a:rPr lang="en-US" sz="2365" spc="-19" u="sng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  <a:hlinkClick r:id="rId12" tooltip="https://experience-platform-sigma.vercel.app"/>
              </a:rPr>
              <a:t>https://experience-platform-sigma.vercel.app/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2836293" y="5710449"/>
            <a:ext cx="88446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Drive Link: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2470907" y="7231131"/>
            <a:ext cx="860237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 spc="-18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Youtube Link: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144818" y="7612131"/>
            <a:ext cx="860237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spc="-18" u="sng">
                <a:solidFill>
                  <a:srgbClr val="94A3B8"/>
                </a:solidFill>
                <a:latin typeface="Tomorrow"/>
                <a:ea typeface="Tomorrow"/>
                <a:cs typeface="Tomorrow"/>
                <a:sym typeface="Tomorrow"/>
              </a:rPr>
              <a:t>https://www.youtube.com/watch?v=junkQDvLp18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DAHUWUQPCBM</dc:identifier>
  <dcterms:modified xsi:type="dcterms:W3CDTF">2011-08-01T06:04:30Z</dcterms:modified>
  <cp:revision>1</cp:revision>
  <dc:title>PPT.pptx</dc:title>
</cp:coreProperties>
</file>